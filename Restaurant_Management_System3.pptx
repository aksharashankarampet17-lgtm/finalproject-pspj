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3"/>
    <p:sldId id="257" r:id="rId4"/>
    <p:sldId id="261" r:id="rId5"/>
    <p:sldId id="258" r:id="rId6"/>
    <p:sldId id="259" r:id="rId7"/>
    <p:sldId id="260" r:id="rId8"/>
    <p:sldId id="263" r:id="rId9"/>
    <p:sldId id="264" r:id="rId10"/>
    <p:sldId id="265" r:id="rId11"/>
    <p:sldId id="266" r:id="rId12"/>
    <p:sldId id="267" r:id="rId13"/>
    <p:sldId id="262" r:id="rId14"/>
    <p:sldId id="268" r:id="rId15"/>
    <p:sldId id="269"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notesMaster" Target="notesMasters/notesMaster1.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27AFC0-00B8-4117-895C-3E834B171036}" type="datetimeFigureOut">
              <a:rPr lang="en-IN" smtClean="0"/>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3476CA-421D-4B57-8942-5762D93F1AB2}" type="slidenum">
              <a:rPr lang="en-IN" smtClean="0"/>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16F549C3-E12B-4CC2-9FA1-D4C0643B7241}" type="datetime1">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B012AB6-14AF-4351-87AD-D420B05274E1}" type="slidenum">
              <a:rPr lang="en-IN" smtClean="0"/>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07DE2E10-B9C9-4696-8C2C-567691D9BBFD}" type="datetime1">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B012AB6-14AF-4351-87AD-D420B05274E1}" type="slidenum">
              <a:rPr lang="en-IN" smtClean="0"/>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6E4BF378-8F16-492D-87B3-963C20ACF441}" type="datetime1">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B012AB6-14AF-4351-87AD-D420B05274E1}" type="slidenum">
              <a:rPr lang="en-IN" smtClean="0"/>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4"/>
          <p:cNvSpPr>
            <a:spLocks noGrp="1"/>
          </p:cNvSpPr>
          <p:nvPr>
            <p:ph type="dt" sz="half" idx="10"/>
          </p:nvPr>
        </p:nvSpPr>
        <p:spPr/>
        <p:txBody>
          <a:bodyPr/>
          <a:lstStyle/>
          <a:p>
            <a:fld id="{2C79781E-9150-4561-9F7C-01394C55C5AE}" type="datetime1">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B012AB6-14AF-4351-87AD-D420B05274E1}" type="slidenum">
              <a:rPr lang="en-IN" smtClean="0"/>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Date Placeholder 6"/>
          <p:cNvSpPr>
            <a:spLocks noGrp="1"/>
          </p:cNvSpPr>
          <p:nvPr>
            <p:ph type="dt" sz="half" idx="10"/>
          </p:nvPr>
        </p:nvSpPr>
        <p:spPr/>
        <p:txBody>
          <a:bodyPr/>
          <a:lstStyle/>
          <a:p>
            <a:fld id="{CEF12896-961F-4F7A-B2DD-D0EFF57BA027}" type="datetime1">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B012AB6-14AF-4351-87AD-D420B05274E1}" type="slidenum">
              <a:rPr lang="en-IN" smtClean="0"/>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48F51132-6BA4-40BC-AB03-D6B9C4F193FC}" type="datetime1">
              <a:rPr lang="en-IN" smtClean="0"/>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B012AB6-14AF-4351-87AD-D420B05274E1}" type="slidenum">
              <a:rPr lang="en-IN" smtClean="0"/>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FD85D5E-B9E5-4C7E-88B1-43A66A7C3488}" type="datetime1">
              <a:rPr lang="en-IN" smtClean="0"/>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B012AB6-14AF-4351-87AD-D420B05274E1}"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97DBE2A2-8283-469E-B4A1-D6877668ECFE}" type="datetime1">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B012AB6-14AF-4351-87AD-D420B05274E1}" type="slidenum">
              <a:rPr lang="en-IN" smtClean="0"/>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FD50A723-EDD4-4822-84BE-4B7F697B4E56}" type="datetime1">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B012AB6-14AF-4351-87AD-D420B05274E1}" type="slidenum">
              <a:rPr lang="en-IN" smtClean="0"/>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6B848764-2CC6-431B-B501-1DF197EE73CC}" type="datetime1">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B012AB6-14AF-4351-87AD-D420B05274E1}" type="slidenum">
              <a:rPr lang="en-IN" smtClean="0"/>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9C5EEFFA-3959-41FE-A774-B9B27FD8983C}" type="datetime1">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B012AB6-14AF-4351-87AD-D420B05274E1}" type="slidenum">
              <a:rPr lang="en-IN" smtClean="0"/>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30F4BF4-0D93-4F1E-82BB-778F1EDDD45F}" type="datetime1">
              <a:rPr lang="en-IN" smtClean="0"/>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B012AB6-14AF-4351-87AD-D420B05274E1}"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png"/></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8122B"/>
        </a:solidFill>
        <a:effectLst/>
      </p:bgPr>
    </p:bg>
    <p:spTree>
      <p:nvGrpSpPr>
        <p:cNvPr id="1" name=""/>
        <p:cNvGrpSpPr/>
        <p:nvPr/>
      </p:nvGrpSpPr>
      <p:grpSpPr>
        <a:xfrm>
          <a:off x="0" y="0"/>
          <a:ext cx="0" cy="0"/>
          <a:chOff x="0" y="0"/>
          <a:chExt cx="0" cy="0"/>
        </a:xfrm>
      </p:grpSpPr>
      <p:sp>
        <p:nvSpPr>
          <p:cNvPr id="2" name="Rectangle 1"/>
          <p:cNvSpPr/>
          <p:nvPr/>
        </p:nvSpPr>
        <p:spPr>
          <a:xfrm>
            <a:off x="0" y="0"/>
            <a:ext cx="182880" cy="6858000"/>
          </a:xfrm>
          <a:prstGeom prst="rect">
            <a:avLst/>
          </a:prstGeom>
          <a:solidFill>
            <a:srgbClr val="42DA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092440" y="0"/>
            <a:ext cx="4096512" cy="6858000"/>
          </a:xfrm>
          <a:prstGeom prst="rect">
            <a:avLst/>
          </a:prstGeom>
          <a:solidFill>
            <a:srgbClr val="0D1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549640" y="640080"/>
            <a:ext cx="3063240" cy="73152"/>
          </a:xfrm>
          <a:prstGeom prst="rect">
            <a:avLst/>
          </a:prstGeom>
          <a:solidFill>
            <a:srgbClr val="2ABE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4000" y="960120"/>
            <a:ext cx="2468880" cy="73152"/>
          </a:xfrm>
          <a:prstGeom prst="rect">
            <a:avLst/>
          </a:prstGeom>
          <a:solidFill>
            <a:srgbClr val="42DA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732520" y="1828800"/>
            <a:ext cx="420624" cy="420624"/>
          </a:xfrm>
          <a:prstGeom prst="ellipse">
            <a:avLst/>
          </a:prstGeom>
          <a:solidFill>
            <a:srgbClr val="42DA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646920" y="1828800"/>
            <a:ext cx="420624" cy="420624"/>
          </a:xfrm>
          <a:prstGeom prst="ellipse">
            <a:avLst/>
          </a:prstGeom>
          <a:solidFill>
            <a:srgbClr val="2ABE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561320" y="1828800"/>
            <a:ext cx="420624" cy="420624"/>
          </a:xfrm>
          <a:prstGeom prst="ellipse">
            <a:avLst/>
          </a:prstGeom>
          <a:solidFill>
            <a:srgbClr val="FFC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32520" y="2743200"/>
            <a:ext cx="420624" cy="420624"/>
          </a:xfrm>
          <a:prstGeom prst="ellipse">
            <a:avLst/>
          </a:prstGeom>
          <a:solidFill>
            <a:srgbClr val="2ABE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646920" y="2743200"/>
            <a:ext cx="420624" cy="420624"/>
          </a:xfrm>
          <a:prstGeom prst="ellipse">
            <a:avLst/>
          </a:prstGeom>
          <a:solidFill>
            <a:srgbClr val="42DA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561320" y="2743200"/>
            <a:ext cx="420624" cy="420624"/>
          </a:xfrm>
          <a:prstGeom prst="ellipse">
            <a:avLst/>
          </a:prstGeom>
          <a:solidFill>
            <a:srgbClr val="2ABE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1874519"/>
            <a:ext cx="6949440" cy="347472"/>
          </a:xfrm>
          <a:prstGeom prst="rect">
            <a:avLst/>
          </a:prstGeom>
          <a:noFill/>
        </p:spPr>
        <p:txBody>
          <a:bodyPr wrap="square" lIns="36576" tIns="36576" rIns="36576" bIns="36576" anchor="t">
            <a:spAutoFit/>
          </a:bodyPr>
          <a:lstStyle/>
          <a:p>
            <a:pPr algn="l">
              <a:spcAft>
                <a:spcPts val="400"/>
              </a:spcAft>
            </a:pPr>
          </a:p>
        </p:txBody>
      </p:sp>
      <p:sp>
        <p:nvSpPr>
          <p:cNvPr id="13" name="TextBox 12"/>
          <p:cNvSpPr txBox="1"/>
          <p:nvPr/>
        </p:nvSpPr>
        <p:spPr>
          <a:xfrm>
            <a:off x="822960" y="2331720"/>
            <a:ext cx="7040880" cy="1508760"/>
          </a:xfrm>
          <a:prstGeom prst="rect">
            <a:avLst/>
          </a:prstGeom>
          <a:noFill/>
        </p:spPr>
        <p:txBody>
          <a:bodyPr wrap="square" lIns="36576" tIns="36576" rIns="36576" bIns="36576" anchor="ctr">
            <a:spAutoFit/>
          </a:bodyPr>
          <a:lstStyle/>
          <a:p>
            <a:pPr algn="l">
              <a:spcAft>
                <a:spcPts val="400"/>
              </a:spcAft>
            </a:pPr>
            <a:r>
              <a:rPr sz="3400" b="1" i="0">
                <a:solidFill>
                  <a:srgbClr val="F2F7FF"/>
                </a:solidFill>
                <a:latin typeface="Aptos"/>
              </a:rPr>
              <a:t>RESTAURANT</a:t>
            </a:r>
            <a:endParaRPr sz="3400" b="1" i="0">
              <a:solidFill>
                <a:srgbClr val="F2F7FF"/>
              </a:solidFill>
              <a:latin typeface="Aptos"/>
            </a:endParaRPr>
          </a:p>
          <a:p>
            <a:pPr algn="l">
              <a:spcAft>
                <a:spcPts val="400"/>
              </a:spcAft>
            </a:pPr>
            <a:r>
              <a:rPr sz="3400" b="1" i="0">
                <a:solidFill>
                  <a:srgbClr val="F2F7FF"/>
                </a:solidFill>
                <a:latin typeface="Aptos"/>
              </a:rPr>
              <a:t>MANAGEMENT SYSTEM</a:t>
            </a:r>
            <a:endParaRPr sz="3400" b="1" i="0">
              <a:solidFill>
                <a:srgbClr val="F2F7FF"/>
              </a:solidFill>
              <a:latin typeface="Aptos"/>
            </a:endParaRPr>
          </a:p>
        </p:txBody>
      </p:sp>
      <p:sp>
        <p:nvSpPr>
          <p:cNvPr id="14" name="Rectangle 13"/>
          <p:cNvSpPr/>
          <p:nvPr/>
        </p:nvSpPr>
        <p:spPr>
          <a:xfrm>
            <a:off x="850392" y="4160520"/>
            <a:ext cx="1234440" cy="64008"/>
          </a:xfrm>
          <a:prstGeom prst="rect">
            <a:avLst/>
          </a:prstGeom>
          <a:solidFill>
            <a:srgbClr val="42DA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64592" y="0"/>
            <a:ext cx="1234440" cy="365760"/>
          </a:xfrm>
          <a:prstGeom prst="rect">
            <a:avLst/>
          </a:prstGeom>
          <a:solidFill>
            <a:srgbClr val="081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8122B"/>
        </a:solidFill>
        <a:effectLst/>
      </p:bgPr>
    </p:bg>
    <p:spTree>
      <p:nvGrpSpPr>
        <p:cNvPr id="1" name=""/>
        <p:cNvGrpSpPr/>
        <p:nvPr/>
      </p:nvGrpSpPr>
      <p:grpSpPr>
        <a:xfrm>
          <a:off x="0" y="0"/>
          <a:ext cx="0" cy="0"/>
          <a:chOff x="0" y="0"/>
          <a:chExt cx="0" cy="0"/>
        </a:xfrm>
      </p:grpSpPr>
      <p:sp>
        <p:nvSpPr>
          <p:cNvPr id="2" name="Rectangle 1"/>
          <p:cNvSpPr/>
          <p:nvPr/>
        </p:nvSpPr>
        <p:spPr>
          <a:xfrm>
            <a:off x="594360" y="438912"/>
            <a:ext cx="91440" cy="384048"/>
          </a:xfrm>
          <a:prstGeom prst="rect">
            <a:avLst/>
          </a:prstGeom>
          <a:solidFill>
            <a:srgbClr val="42DA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04672" y="429768"/>
            <a:ext cx="2286000" cy="256032"/>
          </a:xfrm>
          <a:prstGeom prst="rect">
            <a:avLst/>
          </a:prstGeom>
          <a:noFill/>
        </p:spPr>
        <p:txBody>
          <a:bodyPr wrap="square" lIns="36576" tIns="36576" rIns="36576" bIns="36576" anchor="t">
            <a:spAutoFit/>
          </a:bodyPr>
          <a:lstStyle/>
          <a:p>
            <a:pPr algn="l">
              <a:spcAft>
                <a:spcPts val="400"/>
              </a:spcAft>
            </a:pPr>
            <a:r>
              <a:rPr sz="1000" b="1" i="0">
                <a:solidFill>
                  <a:srgbClr val="42DAE6"/>
                </a:solidFill>
                <a:latin typeface="Aptos"/>
              </a:rPr>
              <a:t>PROJECT OVERVIEW</a:t>
            </a:r>
            <a:endParaRPr sz="1000" b="1" i="0">
              <a:solidFill>
                <a:srgbClr val="42DAE6"/>
              </a:solidFill>
              <a:latin typeface="Aptos"/>
            </a:endParaRPr>
          </a:p>
        </p:txBody>
      </p:sp>
      <p:sp>
        <p:nvSpPr>
          <p:cNvPr id="4" name="TextBox 3"/>
          <p:cNvSpPr txBox="1"/>
          <p:nvPr/>
        </p:nvSpPr>
        <p:spPr>
          <a:xfrm>
            <a:off x="594360" y="841248"/>
            <a:ext cx="10972800" cy="530352"/>
          </a:xfrm>
          <a:prstGeom prst="rect">
            <a:avLst/>
          </a:prstGeom>
          <a:noFill/>
        </p:spPr>
        <p:txBody>
          <a:bodyPr wrap="square" lIns="36576" tIns="36576" rIns="36576" bIns="36576" anchor="t">
            <a:spAutoFit/>
          </a:bodyPr>
          <a:lstStyle/>
          <a:p>
            <a:pPr algn="l">
              <a:spcAft>
                <a:spcPts val="400"/>
              </a:spcAft>
            </a:pPr>
            <a:r>
              <a:rPr sz="2900" b="1" i="0">
                <a:solidFill>
                  <a:srgbClr val="F2F7FF"/>
                </a:solidFill>
                <a:latin typeface="Aptos"/>
              </a:rPr>
              <a:t>Abstract</a:t>
            </a:r>
            <a:endParaRPr sz="2900" b="1" i="0">
              <a:solidFill>
                <a:srgbClr val="F2F7FF"/>
              </a:solidFill>
              <a:latin typeface="Aptos"/>
            </a:endParaRPr>
          </a:p>
        </p:txBody>
      </p:sp>
      <p:sp>
        <p:nvSpPr>
          <p:cNvPr id="5" name="TextBox 4"/>
          <p:cNvSpPr txBox="1"/>
          <p:nvPr/>
        </p:nvSpPr>
        <p:spPr>
          <a:xfrm>
            <a:off x="621792" y="1399032"/>
            <a:ext cx="10881360" cy="384048"/>
          </a:xfrm>
          <a:prstGeom prst="rect">
            <a:avLst/>
          </a:prstGeom>
          <a:noFill/>
        </p:spPr>
        <p:txBody>
          <a:bodyPr wrap="square" lIns="36576" tIns="36576" rIns="36576" bIns="36576" anchor="t">
            <a:spAutoFit/>
          </a:bodyPr>
          <a:lstStyle/>
          <a:p>
            <a:pPr algn="l">
              <a:spcAft>
                <a:spcPts val="400"/>
              </a:spcAft>
            </a:pPr>
            <a:r>
              <a:rPr sz="1200" b="0" i="0">
                <a:solidFill>
                  <a:srgbClr val="B4C5DD"/>
                </a:solidFill>
                <a:latin typeface="Aptos"/>
              </a:rPr>
              <a:t>A simple Java application for managing basic restaurant operations.</a:t>
            </a:r>
            <a:endParaRPr sz="1200" b="0" i="0">
              <a:solidFill>
                <a:srgbClr val="B4C5DD"/>
              </a:solidFill>
              <a:latin typeface="Aptos"/>
            </a:endParaRPr>
          </a:p>
        </p:txBody>
      </p:sp>
      <p:sp>
        <p:nvSpPr>
          <p:cNvPr id="6" name="Rectangle 5"/>
          <p:cNvSpPr/>
          <p:nvPr/>
        </p:nvSpPr>
        <p:spPr>
          <a:xfrm>
            <a:off x="594360" y="6455664"/>
            <a:ext cx="10972800" cy="10972"/>
          </a:xfrm>
          <a:prstGeom prst="rect">
            <a:avLst/>
          </a:prstGeom>
          <a:solidFill>
            <a:srgbClr val="1934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64240" y="6492240"/>
            <a:ext cx="457200" cy="182880"/>
          </a:xfrm>
          <a:prstGeom prst="rect">
            <a:avLst/>
          </a:prstGeom>
          <a:noFill/>
        </p:spPr>
        <p:txBody>
          <a:bodyPr wrap="square" lIns="36576" tIns="36576" rIns="36576" bIns="36576" anchor="t">
            <a:spAutoFit/>
          </a:bodyPr>
          <a:lstStyle/>
          <a:p>
            <a:pPr algn="r">
              <a:spcAft>
                <a:spcPts val="400"/>
              </a:spcAft>
            </a:pPr>
            <a:r>
              <a:rPr sz="900" b="1" i="0">
                <a:solidFill>
                  <a:srgbClr val="B4C5DD"/>
                </a:solidFill>
                <a:latin typeface="Aptos"/>
              </a:rPr>
              <a:t>02</a:t>
            </a:r>
            <a:endParaRPr sz="900" b="1" i="0">
              <a:solidFill>
                <a:srgbClr val="B4C5DD"/>
              </a:solidFill>
              <a:latin typeface="Aptos"/>
            </a:endParaRPr>
          </a:p>
        </p:txBody>
      </p:sp>
      <p:sp>
        <p:nvSpPr>
          <p:cNvPr id="8" name="Rounded Rectangle 7"/>
          <p:cNvSpPr/>
          <p:nvPr/>
        </p:nvSpPr>
        <p:spPr>
          <a:xfrm>
            <a:off x="658368" y="2057400"/>
            <a:ext cx="5321808" cy="3154680"/>
          </a:xfrm>
          <a:prstGeom prst="roundRect">
            <a:avLst>
              <a:gd name="adj" fmla="val 12000"/>
            </a:avLst>
          </a:prstGeom>
          <a:solidFill>
            <a:srgbClr val="14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59" y="2258568"/>
            <a:ext cx="54864" cy="2752344"/>
          </a:xfrm>
          <a:prstGeom prst="rect">
            <a:avLst/>
          </a:prstGeom>
          <a:solidFill>
            <a:srgbClr val="42DA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 y="2240280"/>
            <a:ext cx="4818888" cy="292608"/>
          </a:xfrm>
          <a:prstGeom prst="rect">
            <a:avLst/>
          </a:prstGeom>
          <a:noFill/>
        </p:spPr>
        <p:txBody>
          <a:bodyPr wrap="square" lIns="36576" tIns="36576" rIns="36576" bIns="36576" anchor="t">
            <a:spAutoFit/>
          </a:bodyPr>
          <a:lstStyle/>
          <a:p>
            <a:pPr algn="l">
              <a:spcAft>
                <a:spcPts val="400"/>
              </a:spcAft>
            </a:pPr>
            <a:r>
              <a:rPr sz="1500" b="1" i="0">
                <a:solidFill>
                  <a:srgbClr val="42DAE6"/>
                </a:solidFill>
                <a:latin typeface="Aptos"/>
              </a:rPr>
              <a:t>WHAT THE SYSTEM DOES</a:t>
            </a:r>
            <a:endParaRPr sz="1500" b="1" i="0">
              <a:solidFill>
                <a:srgbClr val="42DAE6"/>
              </a:solidFill>
              <a:latin typeface="Aptos"/>
            </a:endParaRPr>
          </a:p>
        </p:txBody>
      </p:sp>
      <p:sp>
        <p:nvSpPr>
          <p:cNvPr id="11" name="TextBox 10"/>
          <p:cNvSpPr txBox="1"/>
          <p:nvPr/>
        </p:nvSpPr>
        <p:spPr>
          <a:xfrm>
            <a:off x="987552" y="2615184"/>
            <a:ext cx="4818888" cy="2468880"/>
          </a:xfrm>
          <a:prstGeom prst="rect">
            <a:avLst/>
          </a:prstGeom>
          <a:noFill/>
        </p:spPr>
        <p:txBody>
          <a:bodyPr wrap="square" lIns="36576" tIns="36576" rIns="36576" bIns="36576" anchor="t">
            <a:spAutoFit/>
          </a:bodyPr>
          <a:lstStyle/>
          <a:p>
            <a:pPr algn="l">
              <a:spcAft>
                <a:spcPts val="400"/>
              </a:spcAft>
            </a:pPr>
            <a:r>
              <a:rPr sz="1200" b="0" i="0">
                <a:solidFill>
                  <a:srgbClr val="F2F7FF"/>
                </a:solidFill>
                <a:latin typeface="Aptos"/>
              </a:rPr>
              <a:t>The Restaurant Management System lets a user view the food menu, place an order, enter quantities, calculate the bill, search for menu items, and sort items by price. It also saves completed orders so they can be viewed later.</a:t>
            </a:r>
            <a:endParaRPr sz="1200" b="0" i="0">
              <a:solidFill>
                <a:srgbClr val="F2F7FF"/>
              </a:solidFill>
              <a:latin typeface="Aptos"/>
            </a:endParaRPr>
          </a:p>
        </p:txBody>
      </p:sp>
      <p:sp>
        <p:nvSpPr>
          <p:cNvPr id="12" name="Rounded Rectangle 11"/>
          <p:cNvSpPr/>
          <p:nvPr/>
        </p:nvSpPr>
        <p:spPr>
          <a:xfrm>
            <a:off x="6199632" y="2057400"/>
            <a:ext cx="5321808" cy="3154680"/>
          </a:xfrm>
          <a:prstGeom prst="roundRect">
            <a:avLst>
              <a:gd name="adj" fmla="val 12000"/>
            </a:avLst>
          </a:prstGeom>
          <a:solidFill>
            <a:srgbClr val="14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64224" y="2258568"/>
            <a:ext cx="54864" cy="2752344"/>
          </a:xfrm>
          <a:prstGeom prst="rect">
            <a:avLst/>
          </a:prstGeom>
          <a:solidFill>
            <a:srgbClr val="2ABE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28816" y="2240280"/>
            <a:ext cx="4818888" cy="292608"/>
          </a:xfrm>
          <a:prstGeom prst="rect">
            <a:avLst/>
          </a:prstGeom>
          <a:noFill/>
        </p:spPr>
        <p:txBody>
          <a:bodyPr wrap="square" lIns="36576" tIns="36576" rIns="36576" bIns="36576" anchor="t">
            <a:spAutoFit/>
          </a:bodyPr>
          <a:lstStyle/>
          <a:p>
            <a:pPr algn="l">
              <a:spcAft>
                <a:spcPts val="400"/>
              </a:spcAft>
            </a:pPr>
            <a:r>
              <a:rPr sz="1500" b="1" i="0">
                <a:solidFill>
                  <a:srgbClr val="2ABEB4"/>
                </a:solidFill>
                <a:latin typeface="Aptos"/>
              </a:rPr>
              <a:t>JAVA CONCEPTS IN PRACTICE</a:t>
            </a:r>
            <a:endParaRPr sz="1500" b="1" i="0">
              <a:solidFill>
                <a:srgbClr val="2ABEB4"/>
              </a:solidFill>
              <a:latin typeface="Aptos"/>
            </a:endParaRPr>
          </a:p>
        </p:txBody>
      </p:sp>
      <p:sp>
        <p:nvSpPr>
          <p:cNvPr id="15" name="TextBox 14"/>
          <p:cNvSpPr txBox="1"/>
          <p:nvPr/>
        </p:nvSpPr>
        <p:spPr>
          <a:xfrm>
            <a:off x="6528816" y="2615184"/>
            <a:ext cx="4818888" cy="2468880"/>
          </a:xfrm>
          <a:prstGeom prst="rect">
            <a:avLst/>
          </a:prstGeom>
          <a:noFill/>
        </p:spPr>
        <p:txBody>
          <a:bodyPr wrap="square" lIns="36576" tIns="36576" rIns="36576" bIns="36576" anchor="t">
            <a:spAutoFit/>
          </a:bodyPr>
          <a:lstStyle/>
          <a:p>
            <a:pPr algn="l">
              <a:spcAft>
                <a:spcPts val="400"/>
              </a:spcAft>
            </a:pPr>
            <a:r>
              <a:rPr sz="1200" b="0" i="0">
                <a:solidFill>
                  <a:srgbClr val="F2F7FF"/>
                </a:solidFill>
                <a:latin typeface="Aptos"/>
              </a:rPr>
              <a:t>The project demonstrates Java foundations, control flow, methods, arrays, object-oriented programming, strings, file handling, collections, and streams. These concepts work together to make ordering and billing more organized and reliable.</a:t>
            </a:r>
            <a:endParaRPr sz="1200" b="0" i="0">
              <a:solidFill>
                <a:srgbClr val="F2F7FF"/>
              </a:solidFill>
              <a:latin typeface="Aptos"/>
            </a:endParaRPr>
          </a:p>
        </p:txBody>
      </p:sp>
      <p:sp>
        <p:nvSpPr>
          <p:cNvPr id="16" name="Rounded Rectangle 15"/>
          <p:cNvSpPr/>
          <p:nvPr/>
        </p:nvSpPr>
        <p:spPr>
          <a:xfrm>
            <a:off x="658368" y="5468112"/>
            <a:ext cx="10863072" cy="566928"/>
          </a:xfrm>
          <a:prstGeom prst="roundRect">
            <a:avLst>
              <a:gd name="adj" fmla="val 12000"/>
            </a:avLst>
          </a:prstGeom>
          <a:solidFill>
            <a:srgbClr val="1934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5596128"/>
            <a:ext cx="10332720" cy="256032"/>
          </a:xfrm>
          <a:prstGeom prst="rect">
            <a:avLst/>
          </a:prstGeom>
          <a:noFill/>
        </p:spPr>
        <p:txBody>
          <a:bodyPr wrap="square" lIns="36576" tIns="36576" rIns="36576" bIns="36576" anchor="t">
            <a:spAutoFit/>
          </a:bodyPr>
          <a:lstStyle/>
          <a:p>
            <a:pPr algn="ctr">
              <a:spcAft>
                <a:spcPts val="400"/>
              </a:spcAft>
            </a:pPr>
            <a:r>
              <a:rPr sz="1300" b="1" i="0">
                <a:solidFill>
                  <a:srgbClr val="42DAE6"/>
                </a:solidFill>
                <a:latin typeface="Aptos"/>
              </a:rPr>
              <a:t>Core goal: make menu selection, billing, and order records easier to manage.</a:t>
            </a:r>
            <a:endParaRPr sz="1300" b="1" i="0">
              <a:solidFill>
                <a:srgbClr val="42DAE6"/>
              </a:solidFill>
              <a:latin typeface="Aptos"/>
            </a:endParaRPr>
          </a:p>
        </p:txBody>
      </p:sp>
      <p:sp>
        <p:nvSpPr>
          <p:cNvPr id="18" name="Rectangle 17"/>
          <p:cNvSpPr/>
          <p:nvPr/>
        </p:nvSpPr>
        <p:spPr>
          <a:xfrm>
            <a:off x="164592" y="0"/>
            <a:ext cx="1234440" cy="365760"/>
          </a:xfrm>
          <a:prstGeom prst="rect">
            <a:avLst/>
          </a:prstGeom>
          <a:solidFill>
            <a:srgbClr val="081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8122B"/>
        </a:solidFill>
        <a:effectLst/>
      </p:bgPr>
    </p:bg>
    <p:spTree>
      <p:nvGrpSpPr>
        <p:cNvPr id="1" name=""/>
        <p:cNvGrpSpPr/>
        <p:nvPr/>
      </p:nvGrpSpPr>
      <p:grpSpPr>
        <a:xfrm>
          <a:off x="0" y="0"/>
          <a:ext cx="0" cy="0"/>
          <a:chOff x="0" y="0"/>
          <a:chExt cx="0" cy="0"/>
        </a:xfrm>
      </p:grpSpPr>
      <p:sp>
        <p:nvSpPr>
          <p:cNvPr id="2" name="Rectangle 1"/>
          <p:cNvSpPr/>
          <p:nvPr/>
        </p:nvSpPr>
        <p:spPr>
          <a:xfrm>
            <a:off x="594360" y="438912"/>
            <a:ext cx="91440" cy="384048"/>
          </a:xfrm>
          <a:prstGeom prst="rect">
            <a:avLst/>
          </a:prstGeom>
          <a:solidFill>
            <a:srgbClr val="42DA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04672" y="429768"/>
            <a:ext cx="2286000" cy="256032"/>
          </a:xfrm>
          <a:prstGeom prst="rect">
            <a:avLst/>
          </a:prstGeom>
          <a:noFill/>
        </p:spPr>
        <p:txBody>
          <a:bodyPr wrap="square" lIns="36576" tIns="36576" rIns="36576" bIns="36576" anchor="t">
            <a:spAutoFit/>
          </a:bodyPr>
          <a:lstStyle/>
          <a:p>
            <a:pPr algn="l">
              <a:spcAft>
                <a:spcPts val="400"/>
              </a:spcAft>
            </a:pPr>
            <a:r>
              <a:rPr sz="1000" b="1" i="0">
                <a:solidFill>
                  <a:srgbClr val="42DAE6"/>
                </a:solidFill>
                <a:latin typeface="Aptos"/>
              </a:rPr>
              <a:t>PROBLEM &amp; SOLUTION</a:t>
            </a:r>
            <a:endParaRPr sz="1000" b="1" i="0">
              <a:solidFill>
                <a:srgbClr val="42DAE6"/>
              </a:solidFill>
              <a:latin typeface="Aptos"/>
            </a:endParaRPr>
          </a:p>
        </p:txBody>
      </p:sp>
      <p:sp>
        <p:nvSpPr>
          <p:cNvPr id="4" name="TextBox 3"/>
          <p:cNvSpPr txBox="1"/>
          <p:nvPr/>
        </p:nvSpPr>
        <p:spPr>
          <a:xfrm>
            <a:off x="594360" y="841248"/>
            <a:ext cx="10972800" cy="530352"/>
          </a:xfrm>
          <a:prstGeom prst="rect">
            <a:avLst/>
          </a:prstGeom>
          <a:noFill/>
        </p:spPr>
        <p:txBody>
          <a:bodyPr wrap="square" lIns="36576" tIns="36576" rIns="36576" bIns="36576" anchor="t">
            <a:spAutoFit/>
          </a:bodyPr>
          <a:lstStyle/>
          <a:p>
            <a:pPr algn="l">
              <a:spcAft>
                <a:spcPts val="400"/>
              </a:spcAft>
            </a:pPr>
            <a:r>
              <a:rPr sz="2900" b="1" i="0">
                <a:solidFill>
                  <a:srgbClr val="F2F7FF"/>
                </a:solidFill>
                <a:latin typeface="Aptos"/>
              </a:rPr>
              <a:t>Understanding the Problem Statement</a:t>
            </a:r>
            <a:endParaRPr sz="2900" b="1" i="0">
              <a:solidFill>
                <a:srgbClr val="F2F7FF"/>
              </a:solidFill>
              <a:latin typeface="Aptos"/>
            </a:endParaRPr>
          </a:p>
        </p:txBody>
      </p:sp>
      <p:sp>
        <p:nvSpPr>
          <p:cNvPr id="5" name="TextBox 4"/>
          <p:cNvSpPr txBox="1"/>
          <p:nvPr/>
        </p:nvSpPr>
        <p:spPr>
          <a:xfrm>
            <a:off x="621792" y="1399032"/>
            <a:ext cx="10881360" cy="384048"/>
          </a:xfrm>
          <a:prstGeom prst="rect">
            <a:avLst/>
          </a:prstGeom>
          <a:noFill/>
        </p:spPr>
        <p:txBody>
          <a:bodyPr wrap="square" lIns="36576" tIns="36576" rIns="36576" bIns="36576" anchor="t">
            <a:spAutoFit/>
          </a:bodyPr>
          <a:lstStyle/>
          <a:p>
            <a:pPr algn="l">
              <a:spcAft>
                <a:spcPts val="400"/>
              </a:spcAft>
            </a:pPr>
            <a:r>
              <a:rPr sz="1200" b="0" i="0">
                <a:solidFill>
                  <a:srgbClr val="B4C5DD"/>
                </a:solidFill>
                <a:latin typeface="Aptos"/>
              </a:rPr>
              <a:t>Why a small restaurant can benefit from a simple digital system.</a:t>
            </a:r>
            <a:endParaRPr sz="1200" b="0" i="0">
              <a:solidFill>
                <a:srgbClr val="B4C5DD"/>
              </a:solidFill>
              <a:latin typeface="Aptos"/>
            </a:endParaRPr>
          </a:p>
        </p:txBody>
      </p:sp>
      <p:sp>
        <p:nvSpPr>
          <p:cNvPr id="6" name="Rectangle 5"/>
          <p:cNvSpPr/>
          <p:nvPr/>
        </p:nvSpPr>
        <p:spPr>
          <a:xfrm>
            <a:off x="594360" y="6455664"/>
            <a:ext cx="10972800" cy="10972"/>
          </a:xfrm>
          <a:prstGeom prst="rect">
            <a:avLst/>
          </a:prstGeom>
          <a:solidFill>
            <a:srgbClr val="1934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64240" y="6492240"/>
            <a:ext cx="457200" cy="182880"/>
          </a:xfrm>
          <a:prstGeom prst="rect">
            <a:avLst/>
          </a:prstGeom>
          <a:noFill/>
        </p:spPr>
        <p:txBody>
          <a:bodyPr wrap="square" lIns="36576" tIns="36576" rIns="36576" bIns="36576" anchor="t">
            <a:spAutoFit/>
          </a:bodyPr>
          <a:lstStyle/>
          <a:p>
            <a:pPr algn="r">
              <a:spcAft>
                <a:spcPts val="400"/>
              </a:spcAft>
            </a:pPr>
            <a:r>
              <a:rPr sz="900" b="1" i="0">
                <a:solidFill>
                  <a:srgbClr val="B4C5DD"/>
                </a:solidFill>
                <a:latin typeface="Aptos"/>
              </a:rPr>
              <a:t>03</a:t>
            </a:r>
            <a:endParaRPr sz="900" b="1" i="0">
              <a:solidFill>
                <a:srgbClr val="B4C5DD"/>
              </a:solidFill>
              <a:latin typeface="Aptos"/>
            </a:endParaRPr>
          </a:p>
        </p:txBody>
      </p:sp>
      <p:sp>
        <p:nvSpPr>
          <p:cNvPr id="8" name="Rounded Rectangle 7"/>
          <p:cNvSpPr/>
          <p:nvPr/>
        </p:nvSpPr>
        <p:spPr>
          <a:xfrm>
            <a:off x="658368" y="2029968"/>
            <a:ext cx="5303520" cy="1828800"/>
          </a:xfrm>
          <a:prstGeom prst="roundRect">
            <a:avLst>
              <a:gd name="adj" fmla="val 12000"/>
            </a:avLst>
          </a:prstGeom>
          <a:solidFill>
            <a:srgbClr val="14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59" y="2231136"/>
            <a:ext cx="54864" cy="1426464"/>
          </a:xfrm>
          <a:prstGeom prst="rect">
            <a:avLst/>
          </a:prstGeom>
          <a:solidFill>
            <a:srgbClr val="42DA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 y="2212848"/>
            <a:ext cx="4800600" cy="292608"/>
          </a:xfrm>
          <a:prstGeom prst="rect">
            <a:avLst/>
          </a:prstGeom>
          <a:noFill/>
        </p:spPr>
        <p:txBody>
          <a:bodyPr wrap="square" lIns="36576" tIns="36576" rIns="36576" bIns="36576" anchor="t">
            <a:spAutoFit/>
          </a:bodyPr>
          <a:lstStyle/>
          <a:p>
            <a:pPr algn="l">
              <a:spcAft>
                <a:spcPts val="400"/>
              </a:spcAft>
            </a:pPr>
            <a:r>
              <a:rPr sz="1500" b="1" i="0">
                <a:solidFill>
                  <a:srgbClr val="42DAE6"/>
                </a:solidFill>
                <a:latin typeface="Aptos"/>
              </a:rPr>
              <a:t>THE PROBLEM</a:t>
            </a:r>
            <a:endParaRPr sz="1500" b="1" i="0">
              <a:solidFill>
                <a:srgbClr val="42DAE6"/>
              </a:solidFill>
              <a:latin typeface="Aptos"/>
            </a:endParaRPr>
          </a:p>
        </p:txBody>
      </p:sp>
      <p:sp>
        <p:nvSpPr>
          <p:cNvPr id="11" name="TextBox 10"/>
          <p:cNvSpPr txBox="1"/>
          <p:nvPr/>
        </p:nvSpPr>
        <p:spPr>
          <a:xfrm>
            <a:off x="987552" y="2587752"/>
            <a:ext cx="4800600" cy="1143000"/>
          </a:xfrm>
          <a:prstGeom prst="rect">
            <a:avLst/>
          </a:prstGeom>
          <a:noFill/>
        </p:spPr>
        <p:txBody>
          <a:bodyPr wrap="square" lIns="36576" tIns="36576" rIns="36576" bIns="36576" anchor="t">
            <a:spAutoFit/>
          </a:bodyPr>
          <a:lstStyle/>
          <a:p>
            <a:pPr algn="l">
              <a:spcAft>
                <a:spcPts val="400"/>
              </a:spcAft>
            </a:pPr>
            <a:r>
              <a:rPr sz="1200" b="0" i="0">
                <a:solidFill>
                  <a:srgbClr val="F2F7FF"/>
                </a:solidFill>
                <a:latin typeface="Aptos"/>
              </a:rPr>
              <a:t>Manual order-taking and bill calculation can take time. It can also be harder to search menu items, keep totals consistent, and find previous orders.</a:t>
            </a:r>
            <a:endParaRPr sz="1200" b="0" i="0">
              <a:solidFill>
                <a:srgbClr val="F2F7FF"/>
              </a:solidFill>
              <a:latin typeface="Aptos"/>
            </a:endParaRPr>
          </a:p>
        </p:txBody>
      </p:sp>
      <p:sp>
        <p:nvSpPr>
          <p:cNvPr id="12" name="Rounded Rectangle 11"/>
          <p:cNvSpPr/>
          <p:nvPr/>
        </p:nvSpPr>
        <p:spPr>
          <a:xfrm>
            <a:off x="6199632" y="2029968"/>
            <a:ext cx="5303520" cy="1828800"/>
          </a:xfrm>
          <a:prstGeom prst="roundRect">
            <a:avLst>
              <a:gd name="adj" fmla="val 12000"/>
            </a:avLst>
          </a:prstGeom>
          <a:solidFill>
            <a:srgbClr val="14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64224" y="2231136"/>
            <a:ext cx="54864" cy="1426464"/>
          </a:xfrm>
          <a:prstGeom prst="rect">
            <a:avLst/>
          </a:prstGeom>
          <a:solidFill>
            <a:srgbClr val="2ABE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28816" y="2212848"/>
            <a:ext cx="4800600" cy="292608"/>
          </a:xfrm>
          <a:prstGeom prst="rect">
            <a:avLst/>
          </a:prstGeom>
          <a:noFill/>
        </p:spPr>
        <p:txBody>
          <a:bodyPr wrap="square" lIns="36576" tIns="36576" rIns="36576" bIns="36576" anchor="t">
            <a:spAutoFit/>
          </a:bodyPr>
          <a:lstStyle/>
          <a:p>
            <a:pPr algn="l">
              <a:spcAft>
                <a:spcPts val="400"/>
              </a:spcAft>
            </a:pPr>
            <a:r>
              <a:rPr sz="1500" b="1" i="0">
                <a:solidFill>
                  <a:srgbClr val="2ABEB4"/>
                </a:solidFill>
                <a:latin typeface="Aptos"/>
              </a:rPr>
              <a:t>OUR SOLUTION</a:t>
            </a:r>
            <a:endParaRPr sz="1500" b="1" i="0">
              <a:solidFill>
                <a:srgbClr val="2ABEB4"/>
              </a:solidFill>
              <a:latin typeface="Aptos"/>
            </a:endParaRPr>
          </a:p>
        </p:txBody>
      </p:sp>
      <p:sp>
        <p:nvSpPr>
          <p:cNvPr id="15" name="TextBox 14"/>
          <p:cNvSpPr txBox="1"/>
          <p:nvPr/>
        </p:nvSpPr>
        <p:spPr>
          <a:xfrm>
            <a:off x="6528816" y="2587752"/>
            <a:ext cx="4800600" cy="1143000"/>
          </a:xfrm>
          <a:prstGeom prst="rect">
            <a:avLst/>
          </a:prstGeom>
          <a:noFill/>
        </p:spPr>
        <p:txBody>
          <a:bodyPr wrap="square" lIns="36576" tIns="36576" rIns="36576" bIns="36576" anchor="t">
            <a:spAutoFit/>
          </a:bodyPr>
          <a:lstStyle/>
          <a:p>
            <a:pPr algn="l">
              <a:spcAft>
                <a:spcPts val="400"/>
              </a:spcAft>
            </a:pPr>
            <a:r>
              <a:rPr sz="1200" b="0" i="0">
                <a:solidFill>
                  <a:srgbClr val="F2F7FF"/>
                </a:solidFill>
                <a:latin typeface="Aptos"/>
              </a:rPr>
              <a:t>A menu-driven Java program supports item selection, quantity validation, automatic bill calculation, item searching and sorting, and saving order details to a text file.</a:t>
            </a:r>
            <a:endParaRPr sz="1200" b="0" i="0">
              <a:solidFill>
                <a:srgbClr val="F2F7FF"/>
              </a:solidFill>
              <a:latin typeface="Aptos"/>
            </a:endParaRPr>
          </a:p>
        </p:txBody>
      </p:sp>
      <p:sp>
        <p:nvSpPr>
          <p:cNvPr id="16" name="TextBox 15"/>
          <p:cNvSpPr txBox="1"/>
          <p:nvPr/>
        </p:nvSpPr>
        <p:spPr>
          <a:xfrm>
            <a:off x="694944" y="4224528"/>
            <a:ext cx="10789920" cy="320040"/>
          </a:xfrm>
          <a:prstGeom prst="rect">
            <a:avLst/>
          </a:prstGeom>
          <a:noFill/>
        </p:spPr>
        <p:txBody>
          <a:bodyPr wrap="square" lIns="36576" tIns="36576" rIns="36576" bIns="36576" anchor="t">
            <a:spAutoFit/>
          </a:bodyPr>
          <a:lstStyle/>
          <a:p>
            <a:pPr algn="l">
              <a:spcAft>
                <a:spcPts val="400"/>
              </a:spcAft>
            </a:pPr>
            <a:r>
              <a:rPr sz="1200" b="1" i="0">
                <a:solidFill>
                  <a:srgbClr val="42DAE6"/>
                </a:solidFill>
                <a:latin typeface="Aptos"/>
              </a:rPr>
              <a:t>MAIN FUNCTIONS</a:t>
            </a:r>
            <a:endParaRPr sz="1200" b="1" i="0">
              <a:solidFill>
                <a:srgbClr val="42DAE6"/>
              </a:solidFill>
              <a:latin typeface="Aptos"/>
            </a:endParaRPr>
          </a:p>
        </p:txBody>
      </p:sp>
      <p:sp>
        <p:nvSpPr>
          <p:cNvPr id="17" name="Rounded Rectangle 16"/>
          <p:cNvSpPr/>
          <p:nvPr/>
        </p:nvSpPr>
        <p:spPr>
          <a:xfrm>
            <a:off x="658368" y="4663440"/>
            <a:ext cx="2542032" cy="960120"/>
          </a:xfrm>
          <a:prstGeom prst="roundRect">
            <a:avLst>
              <a:gd name="adj" fmla="val 12000"/>
            </a:avLst>
          </a:prstGeom>
          <a:solidFill>
            <a:srgbClr val="14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4828032"/>
            <a:ext cx="457200" cy="292608"/>
          </a:xfrm>
          <a:prstGeom prst="rect">
            <a:avLst/>
          </a:prstGeom>
          <a:noFill/>
        </p:spPr>
        <p:txBody>
          <a:bodyPr wrap="square" lIns="36576" tIns="36576" rIns="36576" bIns="36576" anchor="t">
            <a:spAutoFit/>
          </a:bodyPr>
          <a:lstStyle/>
          <a:p>
            <a:pPr algn="l">
              <a:spcAft>
                <a:spcPts val="400"/>
              </a:spcAft>
            </a:pPr>
            <a:r>
              <a:rPr sz="1300" b="1" i="0">
                <a:solidFill>
                  <a:srgbClr val="2ABEB4"/>
                </a:solidFill>
                <a:latin typeface="Aptos"/>
              </a:rPr>
              <a:t>01</a:t>
            </a:r>
            <a:endParaRPr sz="1300" b="1" i="0">
              <a:solidFill>
                <a:srgbClr val="2ABEB4"/>
              </a:solidFill>
              <a:latin typeface="Aptos"/>
            </a:endParaRPr>
          </a:p>
        </p:txBody>
      </p:sp>
      <p:sp>
        <p:nvSpPr>
          <p:cNvPr id="19" name="TextBox 18"/>
          <p:cNvSpPr txBox="1"/>
          <p:nvPr/>
        </p:nvSpPr>
        <p:spPr>
          <a:xfrm>
            <a:off x="1298448" y="4828032"/>
            <a:ext cx="1755648" cy="438912"/>
          </a:xfrm>
          <a:prstGeom prst="rect">
            <a:avLst/>
          </a:prstGeom>
          <a:noFill/>
        </p:spPr>
        <p:txBody>
          <a:bodyPr wrap="square" lIns="36576" tIns="36576" rIns="36576" bIns="36576" anchor="ctr">
            <a:spAutoFit/>
          </a:bodyPr>
          <a:lstStyle/>
          <a:p>
            <a:pPr algn="l">
              <a:spcAft>
                <a:spcPts val="400"/>
              </a:spcAft>
            </a:pPr>
            <a:r>
              <a:rPr sz="1300" b="1" i="0">
                <a:solidFill>
                  <a:srgbClr val="F2F7FF"/>
                </a:solidFill>
                <a:latin typeface="Aptos"/>
              </a:rPr>
              <a:t>View menu</a:t>
            </a:r>
            <a:endParaRPr sz="1300" b="1" i="0">
              <a:solidFill>
                <a:srgbClr val="F2F7FF"/>
              </a:solidFill>
              <a:latin typeface="Aptos"/>
            </a:endParaRPr>
          </a:p>
        </p:txBody>
      </p:sp>
      <p:sp>
        <p:nvSpPr>
          <p:cNvPr id="20" name="Rounded Rectangle 19"/>
          <p:cNvSpPr/>
          <p:nvPr/>
        </p:nvSpPr>
        <p:spPr>
          <a:xfrm>
            <a:off x="3419856" y="4663440"/>
            <a:ext cx="2542032" cy="960120"/>
          </a:xfrm>
          <a:prstGeom prst="roundRect">
            <a:avLst>
              <a:gd name="adj" fmla="val 12000"/>
            </a:avLst>
          </a:prstGeom>
          <a:solidFill>
            <a:srgbClr val="14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584448" y="4828032"/>
            <a:ext cx="457200" cy="292608"/>
          </a:xfrm>
          <a:prstGeom prst="rect">
            <a:avLst/>
          </a:prstGeom>
          <a:noFill/>
        </p:spPr>
        <p:txBody>
          <a:bodyPr wrap="square" lIns="36576" tIns="36576" rIns="36576" bIns="36576" anchor="t">
            <a:spAutoFit/>
          </a:bodyPr>
          <a:lstStyle/>
          <a:p>
            <a:pPr algn="l">
              <a:spcAft>
                <a:spcPts val="400"/>
              </a:spcAft>
            </a:pPr>
            <a:r>
              <a:rPr sz="1300" b="1" i="0">
                <a:solidFill>
                  <a:srgbClr val="2ABEB4"/>
                </a:solidFill>
                <a:latin typeface="Aptos"/>
              </a:rPr>
              <a:t>02</a:t>
            </a:r>
            <a:endParaRPr sz="1300" b="1" i="0">
              <a:solidFill>
                <a:srgbClr val="2ABEB4"/>
              </a:solidFill>
              <a:latin typeface="Aptos"/>
            </a:endParaRPr>
          </a:p>
        </p:txBody>
      </p:sp>
      <p:sp>
        <p:nvSpPr>
          <p:cNvPr id="22" name="TextBox 21"/>
          <p:cNvSpPr txBox="1"/>
          <p:nvPr/>
        </p:nvSpPr>
        <p:spPr>
          <a:xfrm>
            <a:off x="4059936" y="4828032"/>
            <a:ext cx="1755648" cy="438912"/>
          </a:xfrm>
          <a:prstGeom prst="rect">
            <a:avLst/>
          </a:prstGeom>
          <a:noFill/>
        </p:spPr>
        <p:txBody>
          <a:bodyPr wrap="square" lIns="36576" tIns="36576" rIns="36576" bIns="36576" anchor="ctr">
            <a:spAutoFit/>
          </a:bodyPr>
          <a:lstStyle/>
          <a:p>
            <a:pPr algn="l">
              <a:spcAft>
                <a:spcPts val="400"/>
              </a:spcAft>
            </a:pPr>
            <a:r>
              <a:rPr sz="1300" b="1" i="0">
                <a:solidFill>
                  <a:srgbClr val="F2F7FF"/>
                </a:solidFill>
                <a:latin typeface="Aptos"/>
              </a:rPr>
              <a:t>Place order &amp; bill</a:t>
            </a:r>
            <a:endParaRPr sz="1300" b="1" i="0">
              <a:solidFill>
                <a:srgbClr val="F2F7FF"/>
              </a:solidFill>
              <a:latin typeface="Aptos"/>
            </a:endParaRPr>
          </a:p>
        </p:txBody>
      </p:sp>
      <p:sp>
        <p:nvSpPr>
          <p:cNvPr id="23" name="Rounded Rectangle 22"/>
          <p:cNvSpPr/>
          <p:nvPr/>
        </p:nvSpPr>
        <p:spPr>
          <a:xfrm>
            <a:off x="6181344" y="4663440"/>
            <a:ext cx="2542032" cy="960120"/>
          </a:xfrm>
          <a:prstGeom prst="roundRect">
            <a:avLst>
              <a:gd name="adj" fmla="val 12000"/>
            </a:avLst>
          </a:prstGeom>
          <a:solidFill>
            <a:srgbClr val="14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45936" y="4828032"/>
            <a:ext cx="457200" cy="292608"/>
          </a:xfrm>
          <a:prstGeom prst="rect">
            <a:avLst/>
          </a:prstGeom>
          <a:noFill/>
        </p:spPr>
        <p:txBody>
          <a:bodyPr wrap="square" lIns="36576" tIns="36576" rIns="36576" bIns="36576" anchor="t">
            <a:spAutoFit/>
          </a:bodyPr>
          <a:lstStyle/>
          <a:p>
            <a:pPr algn="l">
              <a:spcAft>
                <a:spcPts val="400"/>
              </a:spcAft>
            </a:pPr>
            <a:r>
              <a:rPr sz="1300" b="1" i="0">
                <a:solidFill>
                  <a:srgbClr val="2ABEB4"/>
                </a:solidFill>
                <a:latin typeface="Aptos"/>
              </a:rPr>
              <a:t>03</a:t>
            </a:r>
            <a:endParaRPr sz="1300" b="1" i="0">
              <a:solidFill>
                <a:srgbClr val="2ABEB4"/>
              </a:solidFill>
              <a:latin typeface="Aptos"/>
            </a:endParaRPr>
          </a:p>
        </p:txBody>
      </p:sp>
      <p:sp>
        <p:nvSpPr>
          <p:cNvPr id="25" name="TextBox 24"/>
          <p:cNvSpPr txBox="1"/>
          <p:nvPr/>
        </p:nvSpPr>
        <p:spPr>
          <a:xfrm>
            <a:off x="6821424" y="4828032"/>
            <a:ext cx="1755648" cy="438912"/>
          </a:xfrm>
          <a:prstGeom prst="rect">
            <a:avLst/>
          </a:prstGeom>
          <a:noFill/>
        </p:spPr>
        <p:txBody>
          <a:bodyPr wrap="square" lIns="36576" tIns="36576" rIns="36576" bIns="36576" anchor="ctr">
            <a:spAutoFit/>
          </a:bodyPr>
          <a:lstStyle/>
          <a:p>
            <a:pPr algn="l">
              <a:spcAft>
                <a:spcPts val="400"/>
              </a:spcAft>
            </a:pPr>
            <a:r>
              <a:rPr sz="1300" b="1" i="0">
                <a:solidFill>
                  <a:srgbClr val="F2F7FF"/>
                </a:solidFill>
                <a:latin typeface="Aptos"/>
              </a:rPr>
              <a:t>Search / sort items</a:t>
            </a:r>
            <a:endParaRPr sz="1300" b="1" i="0">
              <a:solidFill>
                <a:srgbClr val="F2F7FF"/>
              </a:solidFill>
              <a:latin typeface="Aptos"/>
            </a:endParaRPr>
          </a:p>
        </p:txBody>
      </p:sp>
      <p:sp>
        <p:nvSpPr>
          <p:cNvPr id="26" name="Rounded Rectangle 25"/>
          <p:cNvSpPr/>
          <p:nvPr/>
        </p:nvSpPr>
        <p:spPr>
          <a:xfrm>
            <a:off x="8942832" y="4663440"/>
            <a:ext cx="2542032" cy="960120"/>
          </a:xfrm>
          <a:prstGeom prst="roundRect">
            <a:avLst>
              <a:gd name="adj" fmla="val 12000"/>
            </a:avLst>
          </a:prstGeom>
          <a:solidFill>
            <a:srgbClr val="14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07424" y="4828032"/>
            <a:ext cx="457200" cy="292608"/>
          </a:xfrm>
          <a:prstGeom prst="rect">
            <a:avLst/>
          </a:prstGeom>
          <a:noFill/>
        </p:spPr>
        <p:txBody>
          <a:bodyPr wrap="square" lIns="36576" tIns="36576" rIns="36576" bIns="36576" anchor="t">
            <a:spAutoFit/>
          </a:bodyPr>
          <a:lstStyle/>
          <a:p>
            <a:pPr algn="l">
              <a:spcAft>
                <a:spcPts val="400"/>
              </a:spcAft>
            </a:pPr>
            <a:r>
              <a:rPr sz="1300" b="1" i="0">
                <a:solidFill>
                  <a:srgbClr val="2ABEB4"/>
                </a:solidFill>
                <a:latin typeface="Aptos"/>
              </a:rPr>
              <a:t>04</a:t>
            </a:r>
            <a:endParaRPr sz="1300" b="1" i="0">
              <a:solidFill>
                <a:srgbClr val="2ABEB4"/>
              </a:solidFill>
              <a:latin typeface="Aptos"/>
            </a:endParaRPr>
          </a:p>
        </p:txBody>
      </p:sp>
      <p:sp>
        <p:nvSpPr>
          <p:cNvPr id="28" name="TextBox 27"/>
          <p:cNvSpPr txBox="1"/>
          <p:nvPr/>
        </p:nvSpPr>
        <p:spPr>
          <a:xfrm>
            <a:off x="9582912" y="4828032"/>
            <a:ext cx="1755648" cy="438912"/>
          </a:xfrm>
          <a:prstGeom prst="rect">
            <a:avLst/>
          </a:prstGeom>
          <a:noFill/>
        </p:spPr>
        <p:txBody>
          <a:bodyPr wrap="square" lIns="36576" tIns="36576" rIns="36576" bIns="36576" anchor="ctr">
            <a:spAutoFit/>
          </a:bodyPr>
          <a:lstStyle/>
          <a:p>
            <a:pPr algn="l">
              <a:spcAft>
                <a:spcPts val="400"/>
              </a:spcAft>
            </a:pPr>
            <a:r>
              <a:rPr sz="1300" b="1" i="0">
                <a:solidFill>
                  <a:srgbClr val="F2F7FF"/>
                </a:solidFill>
                <a:latin typeface="Aptos"/>
              </a:rPr>
              <a:t>Save / view orders</a:t>
            </a:r>
            <a:endParaRPr sz="1300" b="1" i="0">
              <a:solidFill>
                <a:srgbClr val="F2F7FF"/>
              </a:solidFill>
              <a:latin typeface="Aptos"/>
            </a:endParaRPr>
          </a:p>
        </p:txBody>
      </p:sp>
      <p:sp>
        <p:nvSpPr>
          <p:cNvPr id="29" name="Rectangle 28"/>
          <p:cNvSpPr/>
          <p:nvPr/>
        </p:nvSpPr>
        <p:spPr>
          <a:xfrm>
            <a:off x="164592" y="0"/>
            <a:ext cx="1234440" cy="365760"/>
          </a:xfrm>
          <a:prstGeom prst="rect">
            <a:avLst/>
          </a:prstGeom>
          <a:solidFill>
            <a:srgbClr val="081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8122B"/>
        </a:solidFill>
        <a:effectLst/>
      </p:bgPr>
    </p:bg>
    <p:spTree>
      <p:nvGrpSpPr>
        <p:cNvPr id="1" name=""/>
        <p:cNvGrpSpPr/>
        <p:nvPr/>
      </p:nvGrpSpPr>
      <p:grpSpPr>
        <a:xfrm>
          <a:off x="0" y="0"/>
          <a:ext cx="0" cy="0"/>
          <a:chOff x="0" y="0"/>
          <a:chExt cx="0" cy="0"/>
        </a:xfrm>
      </p:grpSpPr>
      <p:sp>
        <p:nvSpPr>
          <p:cNvPr id="2" name="Rectangle 1"/>
          <p:cNvSpPr/>
          <p:nvPr/>
        </p:nvSpPr>
        <p:spPr>
          <a:xfrm>
            <a:off x="594360" y="438912"/>
            <a:ext cx="91440" cy="384048"/>
          </a:xfrm>
          <a:prstGeom prst="rect">
            <a:avLst/>
          </a:prstGeom>
          <a:solidFill>
            <a:srgbClr val="42DA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04672" y="429768"/>
            <a:ext cx="2286000" cy="256032"/>
          </a:xfrm>
          <a:prstGeom prst="rect">
            <a:avLst/>
          </a:prstGeom>
          <a:noFill/>
        </p:spPr>
        <p:txBody>
          <a:bodyPr wrap="square" lIns="36576" tIns="36576" rIns="36576" bIns="36576" anchor="t">
            <a:spAutoFit/>
          </a:bodyPr>
          <a:lstStyle/>
          <a:p>
            <a:pPr algn="l">
              <a:spcAft>
                <a:spcPts val="400"/>
              </a:spcAft>
            </a:pPr>
            <a:r>
              <a:rPr sz="1000" b="1" i="0">
                <a:solidFill>
                  <a:srgbClr val="42DAE6"/>
                </a:solidFill>
                <a:latin typeface="Aptos"/>
              </a:rPr>
              <a:t>CO 1  /  MODULE 1</a:t>
            </a:r>
            <a:endParaRPr sz="1000" b="1" i="0">
              <a:solidFill>
                <a:srgbClr val="42DAE6"/>
              </a:solidFill>
              <a:latin typeface="Aptos"/>
            </a:endParaRPr>
          </a:p>
        </p:txBody>
      </p:sp>
      <p:sp>
        <p:nvSpPr>
          <p:cNvPr id="4" name="TextBox 3"/>
          <p:cNvSpPr txBox="1"/>
          <p:nvPr/>
        </p:nvSpPr>
        <p:spPr>
          <a:xfrm>
            <a:off x="594360" y="841248"/>
            <a:ext cx="10972800" cy="518160"/>
          </a:xfrm>
          <a:prstGeom prst="rect">
            <a:avLst/>
          </a:prstGeom>
          <a:noFill/>
        </p:spPr>
        <p:txBody>
          <a:bodyPr wrap="square" lIns="36576" tIns="36576" rIns="36576" bIns="36576" anchor="t">
            <a:spAutoFit/>
          </a:bodyPr>
          <a:lstStyle/>
          <a:p>
            <a:pPr algn="l">
              <a:spcAft>
                <a:spcPts val="400"/>
              </a:spcAft>
            </a:pPr>
            <a:r>
              <a:rPr sz="2900" b="1" i="0">
                <a:solidFill>
                  <a:srgbClr val="F2F7FF"/>
                </a:solidFill>
                <a:latin typeface="Aptos"/>
              </a:rPr>
              <a:t>CO 1  |  </a:t>
            </a:r>
            <a:endParaRPr sz="2900" b="1" i="0">
              <a:solidFill>
                <a:srgbClr val="F2F7FF"/>
              </a:solidFill>
              <a:latin typeface="Aptos"/>
            </a:endParaRPr>
          </a:p>
        </p:txBody>
      </p:sp>
      <p:sp>
        <p:nvSpPr>
          <p:cNvPr id="5" name="TextBox 4"/>
          <p:cNvSpPr txBox="1"/>
          <p:nvPr/>
        </p:nvSpPr>
        <p:spPr>
          <a:xfrm>
            <a:off x="621792" y="1399032"/>
            <a:ext cx="10881360" cy="384048"/>
          </a:xfrm>
          <a:prstGeom prst="rect">
            <a:avLst/>
          </a:prstGeom>
          <a:noFill/>
        </p:spPr>
        <p:txBody>
          <a:bodyPr wrap="square" lIns="36576" tIns="36576" rIns="36576" bIns="36576" anchor="t">
            <a:spAutoFit/>
          </a:bodyPr>
          <a:lstStyle/>
          <a:p>
            <a:pPr algn="l">
              <a:spcAft>
                <a:spcPts val="400"/>
              </a:spcAft>
            </a:pPr>
            <a:r>
              <a:rPr sz="1200" b="0" i="0">
                <a:solidFill>
                  <a:srgbClr val="B4C5DD"/>
                </a:solidFill>
                <a:latin typeface="Aptos"/>
              </a:rPr>
              <a:t>Computational Thinking &amp; Java Foundations</a:t>
            </a:r>
            <a:endParaRPr sz="1200" b="0" i="0">
              <a:solidFill>
                <a:srgbClr val="B4C5DD"/>
              </a:solidFill>
              <a:latin typeface="Aptos"/>
            </a:endParaRPr>
          </a:p>
        </p:txBody>
      </p:sp>
      <p:sp>
        <p:nvSpPr>
          <p:cNvPr id="6" name="Rectangle 5"/>
          <p:cNvSpPr/>
          <p:nvPr/>
        </p:nvSpPr>
        <p:spPr>
          <a:xfrm>
            <a:off x="594360" y="6455664"/>
            <a:ext cx="10972800" cy="10972"/>
          </a:xfrm>
          <a:prstGeom prst="rect">
            <a:avLst/>
          </a:prstGeom>
          <a:solidFill>
            <a:srgbClr val="1934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64240" y="6492240"/>
            <a:ext cx="457200" cy="182880"/>
          </a:xfrm>
          <a:prstGeom prst="rect">
            <a:avLst/>
          </a:prstGeom>
          <a:noFill/>
        </p:spPr>
        <p:txBody>
          <a:bodyPr wrap="square" lIns="36576" tIns="36576" rIns="36576" bIns="36576" anchor="t">
            <a:spAutoFit/>
          </a:bodyPr>
          <a:lstStyle/>
          <a:p>
            <a:pPr algn="r">
              <a:spcAft>
                <a:spcPts val="400"/>
              </a:spcAft>
            </a:pPr>
            <a:r>
              <a:rPr sz="900" b="1" i="0">
                <a:solidFill>
                  <a:srgbClr val="B4C5DD"/>
                </a:solidFill>
                <a:latin typeface="Aptos"/>
              </a:rPr>
              <a:t>04</a:t>
            </a:r>
            <a:endParaRPr sz="900" b="1" i="0">
              <a:solidFill>
                <a:srgbClr val="B4C5DD"/>
              </a:solidFill>
              <a:latin typeface="Aptos"/>
            </a:endParaRPr>
          </a:p>
        </p:txBody>
      </p:sp>
      <p:sp>
        <p:nvSpPr>
          <p:cNvPr id="8" name="Rounded Rectangle 7"/>
          <p:cNvSpPr/>
          <p:nvPr/>
        </p:nvSpPr>
        <p:spPr>
          <a:xfrm>
            <a:off x="621792" y="1938528"/>
            <a:ext cx="3063240" cy="438912"/>
          </a:xfrm>
          <a:prstGeom prst="roundRect">
            <a:avLst>
              <a:gd name="adj" fmla="val 12000"/>
            </a:avLst>
          </a:prstGeom>
          <a:solidFill>
            <a:srgbClr val="1650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822191" y="1938528"/>
            <a:ext cx="7726679" cy="438912"/>
          </a:xfrm>
          <a:prstGeom prst="roundRect">
            <a:avLst>
              <a:gd name="adj" fmla="val 12000"/>
            </a:avLst>
          </a:prstGeom>
          <a:solidFill>
            <a:srgbClr val="1650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2020824"/>
            <a:ext cx="2697480" cy="228600"/>
          </a:xfrm>
          <a:prstGeom prst="rect">
            <a:avLst/>
          </a:prstGeom>
          <a:noFill/>
        </p:spPr>
        <p:txBody>
          <a:bodyPr wrap="square" lIns="36576" tIns="36576" rIns="36576" bIns="36576" anchor="t">
            <a:spAutoFit/>
          </a:bodyPr>
          <a:lstStyle/>
          <a:p>
            <a:pPr algn="l">
              <a:spcAft>
                <a:spcPts val="400"/>
              </a:spcAft>
            </a:pPr>
            <a:r>
              <a:rPr sz="1100" b="1" i="0">
                <a:solidFill>
                  <a:srgbClr val="42DAE6"/>
                </a:solidFill>
                <a:latin typeface="Aptos"/>
              </a:rPr>
              <a:t>TOPIC USED</a:t>
            </a:r>
            <a:endParaRPr sz="1100" b="1" i="0">
              <a:solidFill>
                <a:srgbClr val="42DAE6"/>
              </a:solidFill>
              <a:latin typeface="Aptos"/>
            </a:endParaRPr>
          </a:p>
        </p:txBody>
      </p:sp>
      <p:sp>
        <p:nvSpPr>
          <p:cNvPr id="11" name="TextBox 10"/>
          <p:cNvSpPr txBox="1"/>
          <p:nvPr/>
        </p:nvSpPr>
        <p:spPr>
          <a:xfrm>
            <a:off x="4041648" y="2020824"/>
            <a:ext cx="7223760" cy="228600"/>
          </a:xfrm>
          <a:prstGeom prst="rect">
            <a:avLst/>
          </a:prstGeom>
          <a:noFill/>
        </p:spPr>
        <p:txBody>
          <a:bodyPr wrap="square" lIns="36576" tIns="36576" rIns="36576" bIns="36576" anchor="t">
            <a:spAutoFit/>
          </a:bodyPr>
          <a:lstStyle/>
          <a:p>
            <a:pPr algn="l">
              <a:spcAft>
                <a:spcPts val="400"/>
              </a:spcAft>
            </a:pPr>
            <a:r>
              <a:rPr sz="1100" b="1" i="0">
                <a:solidFill>
                  <a:srgbClr val="42DAE6"/>
                </a:solidFill>
                <a:latin typeface="Aptos"/>
              </a:rPr>
              <a:t>PURPOSE IN OUR CODE</a:t>
            </a:r>
            <a:endParaRPr sz="1100" b="1" i="0">
              <a:solidFill>
                <a:srgbClr val="42DAE6"/>
              </a:solidFill>
              <a:latin typeface="Aptos"/>
            </a:endParaRPr>
          </a:p>
        </p:txBody>
      </p:sp>
      <p:sp>
        <p:nvSpPr>
          <p:cNvPr id="12" name="Rounded Rectangle 11"/>
          <p:cNvSpPr/>
          <p:nvPr/>
        </p:nvSpPr>
        <p:spPr>
          <a:xfrm>
            <a:off x="621792" y="2496312"/>
            <a:ext cx="3063240" cy="571500"/>
          </a:xfrm>
          <a:prstGeom prst="roundRect">
            <a:avLst>
              <a:gd name="adj" fmla="val 12000"/>
            </a:avLst>
          </a:prstGeom>
          <a:solidFill>
            <a:srgbClr val="14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822191" y="2496312"/>
            <a:ext cx="7726679" cy="571500"/>
          </a:xfrm>
          <a:prstGeom prst="roundRect">
            <a:avLst>
              <a:gd name="adj" fmla="val 12000"/>
            </a:avLst>
          </a:prstGeom>
          <a:solidFill>
            <a:srgbClr val="14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 y="2496312"/>
            <a:ext cx="50292" cy="571500"/>
          </a:xfrm>
          <a:prstGeom prst="rect">
            <a:avLst/>
          </a:prstGeom>
          <a:solidFill>
            <a:srgbClr val="2ABE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95528" y="2569464"/>
            <a:ext cx="2697480" cy="461772"/>
          </a:xfrm>
          <a:prstGeom prst="rect">
            <a:avLst/>
          </a:prstGeom>
          <a:noFill/>
        </p:spPr>
        <p:txBody>
          <a:bodyPr wrap="square" lIns="36576" tIns="36576" rIns="36576" bIns="36576" anchor="ctr">
            <a:spAutoFit/>
          </a:bodyPr>
          <a:lstStyle/>
          <a:p>
            <a:pPr algn="l">
              <a:spcAft>
                <a:spcPts val="400"/>
              </a:spcAft>
            </a:pPr>
            <a:r>
              <a:rPr sz="1300" b="1" i="0">
                <a:solidFill>
                  <a:srgbClr val="F2F7FF"/>
                </a:solidFill>
                <a:latin typeface="Aptos"/>
              </a:rPr>
              <a:t>Variables &amp; data types</a:t>
            </a:r>
            <a:endParaRPr sz="1300" b="1" i="0">
              <a:solidFill>
                <a:srgbClr val="F2F7FF"/>
              </a:solidFill>
              <a:latin typeface="Aptos"/>
            </a:endParaRPr>
          </a:p>
        </p:txBody>
      </p:sp>
      <p:sp>
        <p:nvSpPr>
          <p:cNvPr id="16" name="TextBox 15"/>
          <p:cNvSpPr txBox="1"/>
          <p:nvPr/>
        </p:nvSpPr>
        <p:spPr>
          <a:xfrm>
            <a:off x="4041648" y="2551176"/>
            <a:ext cx="7269480" cy="480060"/>
          </a:xfrm>
          <a:prstGeom prst="rect">
            <a:avLst/>
          </a:prstGeom>
          <a:noFill/>
        </p:spPr>
        <p:txBody>
          <a:bodyPr wrap="square" lIns="36576" tIns="36576" rIns="36576" bIns="36576" anchor="ctr">
            <a:spAutoFit/>
          </a:bodyPr>
          <a:lstStyle/>
          <a:p>
            <a:pPr algn="l">
              <a:spcAft>
                <a:spcPts val="400"/>
              </a:spcAft>
            </a:pPr>
            <a:r>
              <a:rPr sz="1200" b="0" i="0">
                <a:solidFill>
                  <a:srgbClr val="F2F7FF"/>
                </a:solidFill>
                <a:latin typeface="Aptos"/>
              </a:rPr>
              <a:t>Store item IDs, prices, quantities, customer names, choices, and bill amounts.</a:t>
            </a:r>
            <a:endParaRPr sz="1200" b="0" i="0">
              <a:solidFill>
                <a:srgbClr val="F2F7FF"/>
              </a:solidFill>
              <a:latin typeface="Aptos"/>
            </a:endParaRPr>
          </a:p>
        </p:txBody>
      </p:sp>
      <p:sp>
        <p:nvSpPr>
          <p:cNvPr id="17" name="Rounded Rectangle 16"/>
          <p:cNvSpPr/>
          <p:nvPr/>
        </p:nvSpPr>
        <p:spPr>
          <a:xfrm>
            <a:off x="621792" y="3159252"/>
            <a:ext cx="3063240" cy="571500"/>
          </a:xfrm>
          <a:prstGeom prst="roundRect">
            <a:avLst>
              <a:gd name="adj" fmla="val 12000"/>
            </a:avLst>
          </a:prstGeom>
          <a:solidFill>
            <a:srgbClr val="14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822191" y="3159252"/>
            <a:ext cx="7726679" cy="571500"/>
          </a:xfrm>
          <a:prstGeom prst="roundRect">
            <a:avLst>
              <a:gd name="adj" fmla="val 12000"/>
            </a:avLst>
          </a:prstGeom>
          <a:solidFill>
            <a:srgbClr val="14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 y="3159252"/>
            <a:ext cx="50292" cy="571500"/>
          </a:xfrm>
          <a:prstGeom prst="rect">
            <a:avLst/>
          </a:prstGeom>
          <a:solidFill>
            <a:srgbClr val="42DA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5528" y="3232404"/>
            <a:ext cx="2697480" cy="461772"/>
          </a:xfrm>
          <a:prstGeom prst="rect">
            <a:avLst/>
          </a:prstGeom>
          <a:noFill/>
        </p:spPr>
        <p:txBody>
          <a:bodyPr wrap="square" lIns="36576" tIns="36576" rIns="36576" bIns="36576" anchor="ctr">
            <a:spAutoFit/>
          </a:bodyPr>
          <a:lstStyle/>
          <a:p>
            <a:pPr algn="l">
              <a:spcAft>
                <a:spcPts val="400"/>
              </a:spcAft>
            </a:pPr>
            <a:r>
              <a:rPr sz="1300" b="1" i="0">
                <a:solidFill>
                  <a:srgbClr val="F2F7FF"/>
                </a:solidFill>
                <a:latin typeface="Aptos"/>
              </a:rPr>
              <a:t>Constants</a:t>
            </a:r>
            <a:endParaRPr sz="1300" b="1" i="0">
              <a:solidFill>
                <a:srgbClr val="F2F7FF"/>
              </a:solidFill>
              <a:latin typeface="Aptos"/>
            </a:endParaRPr>
          </a:p>
        </p:txBody>
      </p:sp>
      <p:sp>
        <p:nvSpPr>
          <p:cNvPr id="21" name="TextBox 20"/>
          <p:cNvSpPr txBox="1"/>
          <p:nvPr/>
        </p:nvSpPr>
        <p:spPr>
          <a:xfrm>
            <a:off x="4041648" y="3214116"/>
            <a:ext cx="7269480" cy="480060"/>
          </a:xfrm>
          <a:prstGeom prst="rect">
            <a:avLst/>
          </a:prstGeom>
          <a:noFill/>
        </p:spPr>
        <p:txBody>
          <a:bodyPr wrap="square" lIns="36576" tIns="36576" rIns="36576" bIns="36576" anchor="ctr">
            <a:spAutoFit/>
          </a:bodyPr>
          <a:lstStyle/>
          <a:p>
            <a:pPr algn="l">
              <a:spcAft>
                <a:spcPts val="400"/>
              </a:spcAft>
            </a:pPr>
            <a:r>
              <a:rPr sz="1200" b="0" i="0">
                <a:solidFill>
                  <a:srgbClr val="F2F7FF"/>
                </a:solidFill>
                <a:latin typeface="Aptos"/>
              </a:rPr>
              <a:t>FILE_NAME fixes the order-file name; the bill currently uses 5% directly for tax.</a:t>
            </a:r>
            <a:endParaRPr sz="1200" b="0" i="0">
              <a:solidFill>
                <a:srgbClr val="F2F7FF"/>
              </a:solidFill>
              <a:latin typeface="Aptos"/>
            </a:endParaRPr>
          </a:p>
        </p:txBody>
      </p:sp>
      <p:sp>
        <p:nvSpPr>
          <p:cNvPr id="22" name="Rounded Rectangle 21"/>
          <p:cNvSpPr/>
          <p:nvPr/>
        </p:nvSpPr>
        <p:spPr>
          <a:xfrm>
            <a:off x="621792" y="3822191"/>
            <a:ext cx="3063240" cy="571500"/>
          </a:xfrm>
          <a:prstGeom prst="roundRect">
            <a:avLst>
              <a:gd name="adj" fmla="val 12000"/>
            </a:avLst>
          </a:prstGeom>
          <a:solidFill>
            <a:srgbClr val="14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3822191" y="3822191"/>
            <a:ext cx="7726679" cy="571500"/>
          </a:xfrm>
          <a:prstGeom prst="roundRect">
            <a:avLst>
              <a:gd name="adj" fmla="val 12000"/>
            </a:avLst>
          </a:prstGeom>
          <a:solidFill>
            <a:srgbClr val="14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 y="3822191"/>
            <a:ext cx="50292" cy="571500"/>
          </a:xfrm>
          <a:prstGeom prst="rect">
            <a:avLst/>
          </a:prstGeom>
          <a:solidFill>
            <a:srgbClr val="2ABE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5528" y="3895344"/>
            <a:ext cx="2697480" cy="461772"/>
          </a:xfrm>
          <a:prstGeom prst="rect">
            <a:avLst/>
          </a:prstGeom>
          <a:noFill/>
        </p:spPr>
        <p:txBody>
          <a:bodyPr wrap="square" lIns="36576" tIns="36576" rIns="36576" bIns="36576" anchor="ctr">
            <a:spAutoFit/>
          </a:bodyPr>
          <a:lstStyle/>
          <a:p>
            <a:pPr algn="l">
              <a:spcAft>
                <a:spcPts val="400"/>
              </a:spcAft>
            </a:pPr>
            <a:r>
              <a:rPr sz="1300" b="1" i="0">
                <a:solidFill>
                  <a:srgbClr val="F2F7FF"/>
                </a:solidFill>
                <a:latin typeface="Aptos"/>
              </a:rPr>
              <a:t>Arithmetic &amp; assignment operators</a:t>
            </a:r>
            <a:endParaRPr sz="1300" b="1" i="0">
              <a:solidFill>
                <a:srgbClr val="F2F7FF"/>
              </a:solidFill>
              <a:latin typeface="Aptos"/>
            </a:endParaRPr>
          </a:p>
        </p:txBody>
      </p:sp>
      <p:sp>
        <p:nvSpPr>
          <p:cNvPr id="26" name="TextBox 25"/>
          <p:cNvSpPr txBox="1"/>
          <p:nvPr/>
        </p:nvSpPr>
        <p:spPr>
          <a:xfrm>
            <a:off x="4041648" y="3877055"/>
            <a:ext cx="7269480" cy="480060"/>
          </a:xfrm>
          <a:prstGeom prst="rect">
            <a:avLst/>
          </a:prstGeom>
          <a:noFill/>
        </p:spPr>
        <p:txBody>
          <a:bodyPr wrap="square" lIns="36576" tIns="36576" rIns="36576" bIns="36576" anchor="ctr">
            <a:spAutoFit/>
          </a:bodyPr>
          <a:lstStyle/>
          <a:p>
            <a:pPr algn="l">
              <a:spcAft>
                <a:spcPts val="400"/>
              </a:spcAft>
            </a:pPr>
            <a:r>
              <a:rPr sz="1200" b="0" i="0">
                <a:solidFill>
                  <a:srgbClr val="F2F7FF"/>
                </a:solidFill>
                <a:latin typeface="Aptos"/>
              </a:rPr>
              <a:t>Calculate line totals, subtotal, 5% tax, final total, discount, and running totals.</a:t>
            </a:r>
            <a:endParaRPr sz="1200" b="0" i="0">
              <a:solidFill>
                <a:srgbClr val="F2F7FF"/>
              </a:solidFill>
              <a:latin typeface="Aptos"/>
            </a:endParaRPr>
          </a:p>
        </p:txBody>
      </p:sp>
      <p:sp>
        <p:nvSpPr>
          <p:cNvPr id="27" name="Rounded Rectangle 26"/>
          <p:cNvSpPr/>
          <p:nvPr/>
        </p:nvSpPr>
        <p:spPr>
          <a:xfrm>
            <a:off x="621792" y="4485131"/>
            <a:ext cx="3063240" cy="571500"/>
          </a:xfrm>
          <a:prstGeom prst="roundRect">
            <a:avLst>
              <a:gd name="adj" fmla="val 12000"/>
            </a:avLst>
          </a:prstGeom>
          <a:solidFill>
            <a:srgbClr val="14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3822191" y="4485131"/>
            <a:ext cx="7726679" cy="571500"/>
          </a:xfrm>
          <a:prstGeom prst="roundRect">
            <a:avLst>
              <a:gd name="adj" fmla="val 12000"/>
            </a:avLst>
          </a:prstGeom>
          <a:solidFill>
            <a:srgbClr val="14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1792" y="4485131"/>
            <a:ext cx="50292" cy="571500"/>
          </a:xfrm>
          <a:prstGeom prst="rect">
            <a:avLst/>
          </a:prstGeom>
          <a:solidFill>
            <a:srgbClr val="42DA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5528" y="4558283"/>
            <a:ext cx="2697480" cy="461772"/>
          </a:xfrm>
          <a:prstGeom prst="rect">
            <a:avLst/>
          </a:prstGeom>
          <a:noFill/>
        </p:spPr>
        <p:txBody>
          <a:bodyPr wrap="square" lIns="36576" tIns="36576" rIns="36576" bIns="36576" anchor="ctr">
            <a:spAutoFit/>
          </a:bodyPr>
          <a:lstStyle/>
          <a:p>
            <a:pPr algn="l">
              <a:spcAft>
                <a:spcPts val="400"/>
              </a:spcAft>
            </a:pPr>
            <a:r>
              <a:rPr sz="1300" b="1" i="0">
                <a:solidFill>
                  <a:srgbClr val="F2F7FF"/>
                </a:solidFill>
                <a:latin typeface="Aptos"/>
              </a:rPr>
              <a:t>Relational operators &amp; conditions</a:t>
            </a:r>
            <a:endParaRPr sz="1300" b="1" i="0">
              <a:solidFill>
                <a:srgbClr val="F2F7FF"/>
              </a:solidFill>
              <a:latin typeface="Aptos"/>
            </a:endParaRPr>
          </a:p>
        </p:txBody>
      </p:sp>
      <p:sp>
        <p:nvSpPr>
          <p:cNvPr id="31" name="TextBox 30"/>
          <p:cNvSpPr txBox="1"/>
          <p:nvPr/>
        </p:nvSpPr>
        <p:spPr>
          <a:xfrm>
            <a:off x="4041648" y="4539995"/>
            <a:ext cx="7269480" cy="480060"/>
          </a:xfrm>
          <a:prstGeom prst="rect">
            <a:avLst/>
          </a:prstGeom>
          <a:noFill/>
        </p:spPr>
        <p:txBody>
          <a:bodyPr wrap="square" lIns="36576" tIns="36576" rIns="36576" bIns="36576" anchor="ctr">
            <a:spAutoFit/>
          </a:bodyPr>
          <a:lstStyle/>
          <a:p>
            <a:pPr algn="l">
              <a:spcAft>
                <a:spcPts val="400"/>
              </a:spcAft>
            </a:pPr>
            <a:r>
              <a:rPr sz="1200" b="0" i="0">
                <a:solidFill>
                  <a:srgbClr val="F2F7FF"/>
                </a:solidFill>
                <a:latin typeface="Aptos"/>
              </a:rPr>
              <a:t>Check quantities, item IDs, empty menu state, and whether the user selected Exit.</a:t>
            </a:r>
            <a:endParaRPr sz="1200" b="0" i="0">
              <a:solidFill>
                <a:srgbClr val="F2F7FF"/>
              </a:solidFill>
              <a:latin typeface="Aptos"/>
            </a:endParaRPr>
          </a:p>
        </p:txBody>
      </p:sp>
      <p:sp>
        <p:nvSpPr>
          <p:cNvPr id="32" name="Rounded Rectangle 31"/>
          <p:cNvSpPr/>
          <p:nvPr/>
        </p:nvSpPr>
        <p:spPr>
          <a:xfrm>
            <a:off x="621792" y="5148072"/>
            <a:ext cx="3063240" cy="571500"/>
          </a:xfrm>
          <a:prstGeom prst="roundRect">
            <a:avLst>
              <a:gd name="adj" fmla="val 12000"/>
            </a:avLst>
          </a:prstGeom>
          <a:solidFill>
            <a:srgbClr val="14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3822191" y="5148072"/>
            <a:ext cx="7726679" cy="571500"/>
          </a:xfrm>
          <a:prstGeom prst="roundRect">
            <a:avLst>
              <a:gd name="adj" fmla="val 12000"/>
            </a:avLst>
          </a:prstGeom>
          <a:solidFill>
            <a:srgbClr val="14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21792" y="5148072"/>
            <a:ext cx="50292" cy="571500"/>
          </a:xfrm>
          <a:prstGeom prst="rect">
            <a:avLst/>
          </a:prstGeom>
          <a:solidFill>
            <a:srgbClr val="2ABE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5528" y="5221224"/>
            <a:ext cx="2697480" cy="461772"/>
          </a:xfrm>
          <a:prstGeom prst="rect">
            <a:avLst/>
          </a:prstGeom>
          <a:noFill/>
        </p:spPr>
        <p:txBody>
          <a:bodyPr wrap="square" lIns="36576" tIns="36576" rIns="36576" bIns="36576" anchor="ctr">
            <a:spAutoFit/>
          </a:bodyPr>
          <a:lstStyle/>
          <a:p>
            <a:pPr algn="l">
              <a:spcAft>
                <a:spcPts val="400"/>
              </a:spcAft>
            </a:pPr>
            <a:r>
              <a:rPr sz="1300" b="1" i="0">
                <a:solidFill>
                  <a:srgbClr val="F2F7FF"/>
                </a:solidFill>
                <a:latin typeface="Aptos"/>
              </a:rPr>
              <a:t>Scanner input &amp; formatted output</a:t>
            </a:r>
            <a:endParaRPr sz="1300" b="1" i="0">
              <a:solidFill>
                <a:srgbClr val="F2F7FF"/>
              </a:solidFill>
              <a:latin typeface="Aptos"/>
            </a:endParaRPr>
          </a:p>
        </p:txBody>
      </p:sp>
      <p:sp>
        <p:nvSpPr>
          <p:cNvPr id="36" name="TextBox 35"/>
          <p:cNvSpPr txBox="1"/>
          <p:nvPr/>
        </p:nvSpPr>
        <p:spPr>
          <a:xfrm>
            <a:off x="4041648" y="5202936"/>
            <a:ext cx="7269480" cy="480060"/>
          </a:xfrm>
          <a:prstGeom prst="rect">
            <a:avLst/>
          </a:prstGeom>
          <a:noFill/>
        </p:spPr>
        <p:txBody>
          <a:bodyPr wrap="square" lIns="36576" tIns="36576" rIns="36576" bIns="36576" anchor="ctr">
            <a:spAutoFit/>
          </a:bodyPr>
          <a:lstStyle/>
          <a:p>
            <a:pPr algn="l">
              <a:spcAft>
                <a:spcPts val="400"/>
              </a:spcAft>
            </a:pPr>
            <a:r>
              <a:rPr sz="1200" b="0" i="0">
                <a:solidFill>
                  <a:srgbClr val="F2F7FF"/>
                </a:solidFill>
                <a:latin typeface="Aptos"/>
              </a:rPr>
              <a:t>Read menu choices and quantities; printf formats prices and bill amounts.</a:t>
            </a:r>
            <a:endParaRPr sz="1200" b="0" i="0">
              <a:solidFill>
                <a:srgbClr val="F2F7FF"/>
              </a:solidFill>
              <a:latin typeface="Aptos"/>
            </a:endParaRPr>
          </a:p>
        </p:txBody>
      </p:sp>
      <p:sp>
        <p:nvSpPr>
          <p:cNvPr id="37" name="Rounded Rectangle 36"/>
          <p:cNvSpPr/>
          <p:nvPr/>
        </p:nvSpPr>
        <p:spPr>
          <a:xfrm>
            <a:off x="621792" y="5811012"/>
            <a:ext cx="3063240" cy="571500"/>
          </a:xfrm>
          <a:prstGeom prst="roundRect">
            <a:avLst>
              <a:gd name="adj" fmla="val 12000"/>
            </a:avLst>
          </a:prstGeom>
          <a:solidFill>
            <a:srgbClr val="14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3822191" y="5811012"/>
            <a:ext cx="7726679" cy="571500"/>
          </a:xfrm>
          <a:prstGeom prst="roundRect">
            <a:avLst>
              <a:gd name="adj" fmla="val 12000"/>
            </a:avLst>
          </a:prstGeom>
          <a:solidFill>
            <a:srgbClr val="14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21792" y="5811012"/>
            <a:ext cx="50292" cy="571500"/>
          </a:xfrm>
          <a:prstGeom prst="rect">
            <a:avLst/>
          </a:prstGeom>
          <a:solidFill>
            <a:srgbClr val="42DA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95528" y="5884164"/>
            <a:ext cx="2697480" cy="461772"/>
          </a:xfrm>
          <a:prstGeom prst="rect">
            <a:avLst/>
          </a:prstGeom>
          <a:noFill/>
        </p:spPr>
        <p:txBody>
          <a:bodyPr wrap="square" lIns="36576" tIns="36576" rIns="36576" bIns="36576" anchor="ctr">
            <a:spAutoFit/>
          </a:bodyPr>
          <a:lstStyle/>
          <a:p>
            <a:pPr algn="l">
              <a:spcAft>
                <a:spcPts val="400"/>
              </a:spcAft>
            </a:pPr>
            <a:r>
              <a:rPr sz="1300" b="1" i="0">
                <a:solidFill>
                  <a:srgbClr val="F2F7FF"/>
                </a:solidFill>
                <a:latin typeface="Aptos"/>
              </a:rPr>
              <a:t>Typecasting &amp; bitwise operator</a:t>
            </a:r>
            <a:endParaRPr sz="1300" b="1" i="0">
              <a:solidFill>
                <a:srgbClr val="F2F7FF"/>
              </a:solidFill>
              <a:latin typeface="Aptos"/>
            </a:endParaRPr>
          </a:p>
        </p:txBody>
      </p:sp>
      <p:sp>
        <p:nvSpPr>
          <p:cNvPr id="41" name="TextBox 40"/>
          <p:cNvSpPr txBox="1"/>
          <p:nvPr/>
        </p:nvSpPr>
        <p:spPr>
          <a:xfrm>
            <a:off x="4041648" y="5865876"/>
            <a:ext cx="7269480" cy="480060"/>
          </a:xfrm>
          <a:prstGeom prst="rect">
            <a:avLst/>
          </a:prstGeom>
          <a:noFill/>
        </p:spPr>
        <p:txBody>
          <a:bodyPr wrap="square" lIns="36576" tIns="36576" rIns="36576" bIns="36576" anchor="ctr">
            <a:spAutoFit/>
          </a:bodyPr>
          <a:lstStyle/>
          <a:p>
            <a:pPr algn="l">
              <a:spcAft>
                <a:spcPts val="400"/>
              </a:spcAft>
            </a:pPr>
            <a:r>
              <a:rPr sz="1200" b="0" i="0">
                <a:solidFill>
                  <a:srgbClr val="F2F7FF"/>
                </a:solidFill>
                <a:latin typeface="Aptos"/>
              </a:rPr>
              <a:t>Convert prices / average to integers for the demo; show a small bitwise AND example.</a:t>
            </a:r>
            <a:endParaRPr sz="1200" b="0" i="0">
              <a:solidFill>
                <a:srgbClr val="F2F7FF"/>
              </a:solidFill>
              <a:latin typeface="Aptos"/>
            </a:endParaRPr>
          </a:p>
        </p:txBody>
      </p:sp>
      <p:sp>
        <p:nvSpPr>
          <p:cNvPr id="43" name="Rectangle 42"/>
          <p:cNvSpPr/>
          <p:nvPr/>
        </p:nvSpPr>
        <p:spPr>
          <a:xfrm>
            <a:off x="164592" y="0"/>
            <a:ext cx="1234440" cy="365760"/>
          </a:xfrm>
          <a:prstGeom prst="rect">
            <a:avLst/>
          </a:prstGeom>
          <a:solidFill>
            <a:srgbClr val="081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8122B"/>
        </a:solidFill>
        <a:effectLst/>
      </p:bgPr>
    </p:bg>
    <p:spTree>
      <p:nvGrpSpPr>
        <p:cNvPr id="1" name=""/>
        <p:cNvGrpSpPr/>
        <p:nvPr/>
      </p:nvGrpSpPr>
      <p:grpSpPr>
        <a:xfrm>
          <a:off x="0" y="0"/>
          <a:ext cx="0" cy="0"/>
          <a:chOff x="0" y="0"/>
          <a:chExt cx="0" cy="0"/>
        </a:xfrm>
      </p:grpSpPr>
      <p:sp>
        <p:nvSpPr>
          <p:cNvPr id="2" name="Rectangle 1"/>
          <p:cNvSpPr/>
          <p:nvPr/>
        </p:nvSpPr>
        <p:spPr>
          <a:xfrm>
            <a:off x="594360" y="438912"/>
            <a:ext cx="91440" cy="384048"/>
          </a:xfrm>
          <a:prstGeom prst="rect">
            <a:avLst/>
          </a:prstGeom>
          <a:solidFill>
            <a:srgbClr val="42DA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04672" y="429768"/>
            <a:ext cx="2286000" cy="256032"/>
          </a:xfrm>
          <a:prstGeom prst="rect">
            <a:avLst/>
          </a:prstGeom>
          <a:noFill/>
        </p:spPr>
        <p:txBody>
          <a:bodyPr wrap="square" lIns="36576" tIns="36576" rIns="36576" bIns="36576" anchor="t">
            <a:spAutoFit/>
          </a:bodyPr>
          <a:lstStyle/>
          <a:p>
            <a:pPr algn="l">
              <a:spcAft>
                <a:spcPts val="400"/>
              </a:spcAft>
            </a:pPr>
            <a:r>
              <a:rPr sz="1000" b="1" i="0">
                <a:solidFill>
                  <a:srgbClr val="42DAE6"/>
                </a:solidFill>
                <a:latin typeface="Aptos"/>
              </a:rPr>
              <a:t>CO 2  /  MODULE 2</a:t>
            </a:r>
            <a:endParaRPr sz="1000" b="1" i="0">
              <a:solidFill>
                <a:srgbClr val="42DAE6"/>
              </a:solidFill>
              <a:latin typeface="Aptos"/>
            </a:endParaRPr>
          </a:p>
        </p:txBody>
      </p:sp>
      <p:sp>
        <p:nvSpPr>
          <p:cNvPr id="4" name="TextBox 3"/>
          <p:cNvSpPr txBox="1"/>
          <p:nvPr/>
        </p:nvSpPr>
        <p:spPr>
          <a:xfrm>
            <a:off x="594360" y="841248"/>
            <a:ext cx="10972800" cy="518160"/>
          </a:xfrm>
          <a:prstGeom prst="rect">
            <a:avLst/>
          </a:prstGeom>
          <a:noFill/>
        </p:spPr>
        <p:txBody>
          <a:bodyPr wrap="square" lIns="36576" tIns="36576" rIns="36576" bIns="36576" anchor="t">
            <a:spAutoFit/>
          </a:bodyPr>
          <a:lstStyle/>
          <a:p>
            <a:pPr algn="l">
              <a:spcAft>
                <a:spcPts val="400"/>
              </a:spcAft>
            </a:pPr>
            <a:r>
              <a:rPr sz="2900" b="1" i="0">
                <a:solidFill>
                  <a:srgbClr val="F2F7FF"/>
                </a:solidFill>
                <a:latin typeface="Aptos"/>
              </a:rPr>
              <a:t>CO 2  </a:t>
            </a:r>
            <a:endParaRPr sz="2900" b="1" i="0">
              <a:solidFill>
                <a:srgbClr val="F2F7FF"/>
              </a:solidFill>
              <a:latin typeface="Aptos"/>
            </a:endParaRPr>
          </a:p>
        </p:txBody>
      </p:sp>
      <p:sp>
        <p:nvSpPr>
          <p:cNvPr id="6" name="Rectangle 5"/>
          <p:cNvSpPr/>
          <p:nvPr/>
        </p:nvSpPr>
        <p:spPr>
          <a:xfrm>
            <a:off x="594360" y="6455664"/>
            <a:ext cx="10972800" cy="10972"/>
          </a:xfrm>
          <a:prstGeom prst="rect">
            <a:avLst/>
          </a:prstGeom>
          <a:solidFill>
            <a:srgbClr val="1934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64240" y="6492240"/>
            <a:ext cx="457200" cy="182880"/>
          </a:xfrm>
          <a:prstGeom prst="rect">
            <a:avLst/>
          </a:prstGeom>
          <a:noFill/>
        </p:spPr>
        <p:txBody>
          <a:bodyPr wrap="square" lIns="36576" tIns="36576" rIns="36576" bIns="36576" anchor="t">
            <a:spAutoFit/>
          </a:bodyPr>
          <a:lstStyle/>
          <a:p>
            <a:pPr algn="r">
              <a:spcAft>
                <a:spcPts val="400"/>
              </a:spcAft>
            </a:pPr>
            <a:r>
              <a:rPr sz="900" b="1" i="0">
                <a:solidFill>
                  <a:srgbClr val="B4C5DD"/>
                </a:solidFill>
                <a:latin typeface="Aptos"/>
              </a:rPr>
              <a:t>05</a:t>
            </a:r>
            <a:endParaRPr sz="900" b="1" i="0">
              <a:solidFill>
                <a:srgbClr val="B4C5DD"/>
              </a:solidFill>
              <a:latin typeface="Aptos"/>
            </a:endParaRPr>
          </a:p>
        </p:txBody>
      </p:sp>
      <p:sp>
        <p:nvSpPr>
          <p:cNvPr id="8" name="Rounded Rectangle 7"/>
          <p:cNvSpPr/>
          <p:nvPr/>
        </p:nvSpPr>
        <p:spPr>
          <a:xfrm>
            <a:off x="621792" y="1938528"/>
            <a:ext cx="3063240" cy="438912"/>
          </a:xfrm>
          <a:prstGeom prst="roundRect">
            <a:avLst>
              <a:gd name="adj" fmla="val 12000"/>
            </a:avLst>
          </a:prstGeom>
          <a:solidFill>
            <a:srgbClr val="1650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822191" y="1938528"/>
            <a:ext cx="7726679" cy="438912"/>
          </a:xfrm>
          <a:prstGeom prst="roundRect">
            <a:avLst>
              <a:gd name="adj" fmla="val 12000"/>
            </a:avLst>
          </a:prstGeom>
          <a:solidFill>
            <a:srgbClr val="1650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2020824"/>
            <a:ext cx="2697480" cy="228600"/>
          </a:xfrm>
          <a:prstGeom prst="rect">
            <a:avLst/>
          </a:prstGeom>
          <a:noFill/>
        </p:spPr>
        <p:txBody>
          <a:bodyPr wrap="square" lIns="36576" tIns="36576" rIns="36576" bIns="36576" anchor="t">
            <a:spAutoFit/>
          </a:bodyPr>
          <a:lstStyle/>
          <a:p>
            <a:pPr algn="l">
              <a:spcAft>
                <a:spcPts val="400"/>
              </a:spcAft>
            </a:pPr>
            <a:r>
              <a:rPr sz="1100" b="1" i="0">
                <a:solidFill>
                  <a:srgbClr val="42DAE6"/>
                </a:solidFill>
                <a:latin typeface="Aptos"/>
              </a:rPr>
              <a:t>TOPIC USED</a:t>
            </a:r>
            <a:endParaRPr sz="1100" b="1" i="0">
              <a:solidFill>
                <a:srgbClr val="42DAE6"/>
              </a:solidFill>
              <a:latin typeface="Aptos"/>
            </a:endParaRPr>
          </a:p>
        </p:txBody>
      </p:sp>
      <p:sp>
        <p:nvSpPr>
          <p:cNvPr id="11" name="TextBox 10"/>
          <p:cNvSpPr txBox="1"/>
          <p:nvPr/>
        </p:nvSpPr>
        <p:spPr>
          <a:xfrm>
            <a:off x="4041648" y="2020824"/>
            <a:ext cx="7223760" cy="228600"/>
          </a:xfrm>
          <a:prstGeom prst="rect">
            <a:avLst/>
          </a:prstGeom>
          <a:noFill/>
        </p:spPr>
        <p:txBody>
          <a:bodyPr wrap="square" lIns="36576" tIns="36576" rIns="36576" bIns="36576" anchor="t">
            <a:spAutoFit/>
          </a:bodyPr>
          <a:lstStyle/>
          <a:p>
            <a:pPr algn="l">
              <a:spcAft>
                <a:spcPts val="400"/>
              </a:spcAft>
            </a:pPr>
            <a:r>
              <a:rPr sz="1100" b="1" i="0">
                <a:solidFill>
                  <a:srgbClr val="42DAE6"/>
                </a:solidFill>
                <a:latin typeface="Aptos"/>
              </a:rPr>
              <a:t>PURPOSE IN OUR CODE</a:t>
            </a:r>
            <a:endParaRPr sz="1100" b="1" i="0">
              <a:solidFill>
                <a:srgbClr val="42DAE6"/>
              </a:solidFill>
              <a:latin typeface="Aptos"/>
            </a:endParaRPr>
          </a:p>
        </p:txBody>
      </p:sp>
      <p:sp>
        <p:nvSpPr>
          <p:cNvPr id="12" name="Rounded Rectangle 11"/>
          <p:cNvSpPr/>
          <p:nvPr/>
        </p:nvSpPr>
        <p:spPr>
          <a:xfrm>
            <a:off x="621792" y="2496312"/>
            <a:ext cx="3063240" cy="571500"/>
          </a:xfrm>
          <a:prstGeom prst="roundRect">
            <a:avLst>
              <a:gd name="adj" fmla="val 12000"/>
            </a:avLst>
          </a:prstGeom>
          <a:solidFill>
            <a:srgbClr val="14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822191" y="2496312"/>
            <a:ext cx="7726679" cy="571500"/>
          </a:xfrm>
          <a:prstGeom prst="roundRect">
            <a:avLst>
              <a:gd name="adj" fmla="val 12000"/>
            </a:avLst>
          </a:prstGeom>
          <a:solidFill>
            <a:srgbClr val="14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 y="2496312"/>
            <a:ext cx="50292" cy="571500"/>
          </a:xfrm>
          <a:prstGeom prst="rect">
            <a:avLst/>
          </a:prstGeom>
          <a:solidFill>
            <a:srgbClr val="2ABE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95528" y="2569464"/>
            <a:ext cx="2697480" cy="461772"/>
          </a:xfrm>
          <a:prstGeom prst="rect">
            <a:avLst/>
          </a:prstGeom>
          <a:noFill/>
        </p:spPr>
        <p:txBody>
          <a:bodyPr wrap="square" lIns="36576" tIns="36576" rIns="36576" bIns="36576" anchor="ctr">
            <a:spAutoFit/>
          </a:bodyPr>
          <a:lstStyle/>
          <a:p>
            <a:pPr algn="l">
              <a:spcAft>
                <a:spcPts val="400"/>
              </a:spcAft>
            </a:pPr>
            <a:r>
              <a:rPr sz="1300" b="1" i="0">
                <a:solidFill>
                  <a:srgbClr val="F2F7FF"/>
                </a:solidFill>
                <a:latin typeface="Aptos"/>
              </a:rPr>
              <a:t>if conditions</a:t>
            </a:r>
            <a:endParaRPr sz="1300" b="1" i="0">
              <a:solidFill>
                <a:srgbClr val="F2F7FF"/>
              </a:solidFill>
              <a:latin typeface="Aptos"/>
            </a:endParaRPr>
          </a:p>
        </p:txBody>
      </p:sp>
      <p:sp>
        <p:nvSpPr>
          <p:cNvPr id="16" name="TextBox 15"/>
          <p:cNvSpPr txBox="1"/>
          <p:nvPr/>
        </p:nvSpPr>
        <p:spPr>
          <a:xfrm>
            <a:off x="4041648" y="2551176"/>
            <a:ext cx="7269480" cy="480060"/>
          </a:xfrm>
          <a:prstGeom prst="rect">
            <a:avLst/>
          </a:prstGeom>
          <a:noFill/>
        </p:spPr>
        <p:txBody>
          <a:bodyPr wrap="square" lIns="36576" tIns="36576" rIns="36576" bIns="36576" anchor="ctr">
            <a:spAutoFit/>
          </a:bodyPr>
          <a:lstStyle/>
          <a:p>
            <a:pPr algn="l">
              <a:spcAft>
                <a:spcPts val="400"/>
              </a:spcAft>
            </a:pPr>
            <a:r>
              <a:rPr sz="1200" b="0" i="0">
                <a:solidFill>
                  <a:srgbClr val="F2F7FF"/>
                </a:solidFill>
                <a:latin typeface="Aptos"/>
              </a:rPr>
              <a:t>Use input checks for blank customer names, invalid quantities, missing files, and empty orders.</a:t>
            </a:r>
            <a:endParaRPr sz="1200" b="0" i="0">
              <a:solidFill>
                <a:srgbClr val="F2F7FF"/>
              </a:solidFill>
              <a:latin typeface="Aptos"/>
            </a:endParaRPr>
          </a:p>
        </p:txBody>
      </p:sp>
      <p:sp>
        <p:nvSpPr>
          <p:cNvPr id="17" name="Rounded Rectangle 16"/>
          <p:cNvSpPr/>
          <p:nvPr/>
        </p:nvSpPr>
        <p:spPr>
          <a:xfrm>
            <a:off x="621792" y="3159252"/>
            <a:ext cx="3063240" cy="571500"/>
          </a:xfrm>
          <a:prstGeom prst="roundRect">
            <a:avLst>
              <a:gd name="adj" fmla="val 12000"/>
            </a:avLst>
          </a:prstGeom>
          <a:solidFill>
            <a:srgbClr val="14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822191" y="3159252"/>
            <a:ext cx="7726679" cy="571500"/>
          </a:xfrm>
          <a:prstGeom prst="roundRect">
            <a:avLst>
              <a:gd name="adj" fmla="val 12000"/>
            </a:avLst>
          </a:prstGeom>
          <a:solidFill>
            <a:srgbClr val="14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 y="3159252"/>
            <a:ext cx="50292" cy="571500"/>
          </a:xfrm>
          <a:prstGeom prst="rect">
            <a:avLst/>
          </a:prstGeom>
          <a:solidFill>
            <a:srgbClr val="42DA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5528" y="3232404"/>
            <a:ext cx="2697480" cy="461772"/>
          </a:xfrm>
          <a:prstGeom prst="rect">
            <a:avLst/>
          </a:prstGeom>
          <a:noFill/>
        </p:spPr>
        <p:txBody>
          <a:bodyPr wrap="square" lIns="36576" tIns="36576" rIns="36576" bIns="36576" anchor="ctr">
            <a:spAutoFit/>
          </a:bodyPr>
          <a:lstStyle/>
          <a:p>
            <a:pPr algn="l">
              <a:spcAft>
                <a:spcPts val="400"/>
              </a:spcAft>
            </a:pPr>
            <a:r>
              <a:rPr sz="1300" b="1" i="0">
                <a:solidFill>
                  <a:srgbClr val="F2F7FF"/>
                </a:solidFill>
                <a:latin typeface="Aptos"/>
              </a:rPr>
              <a:t>switch, case &amp; default</a:t>
            </a:r>
            <a:endParaRPr sz="1300" b="1" i="0">
              <a:solidFill>
                <a:srgbClr val="F2F7FF"/>
              </a:solidFill>
              <a:latin typeface="Aptos"/>
            </a:endParaRPr>
          </a:p>
        </p:txBody>
      </p:sp>
      <p:sp>
        <p:nvSpPr>
          <p:cNvPr id="21" name="TextBox 20"/>
          <p:cNvSpPr txBox="1"/>
          <p:nvPr/>
        </p:nvSpPr>
        <p:spPr>
          <a:xfrm>
            <a:off x="4041648" y="3214116"/>
            <a:ext cx="7269480" cy="480060"/>
          </a:xfrm>
          <a:prstGeom prst="rect">
            <a:avLst/>
          </a:prstGeom>
          <a:noFill/>
        </p:spPr>
        <p:txBody>
          <a:bodyPr wrap="square" lIns="36576" tIns="36576" rIns="36576" bIns="36576" anchor="ctr">
            <a:spAutoFit/>
          </a:bodyPr>
          <a:lstStyle/>
          <a:p>
            <a:pPr algn="l">
              <a:spcAft>
                <a:spcPts val="400"/>
              </a:spcAft>
            </a:pPr>
            <a:r>
              <a:rPr sz="1200" b="0" i="0">
                <a:solidFill>
                  <a:srgbClr val="F2F7FF"/>
                </a:solidFill>
                <a:latin typeface="Aptos"/>
              </a:rPr>
              <a:t>Route the selected menu number to display, order, search, sort, demos, history, or exit.</a:t>
            </a:r>
            <a:endParaRPr sz="1200" b="0" i="0">
              <a:solidFill>
                <a:srgbClr val="F2F7FF"/>
              </a:solidFill>
              <a:latin typeface="Aptos"/>
            </a:endParaRPr>
          </a:p>
        </p:txBody>
      </p:sp>
      <p:sp>
        <p:nvSpPr>
          <p:cNvPr id="22" name="Rounded Rectangle 21"/>
          <p:cNvSpPr/>
          <p:nvPr/>
        </p:nvSpPr>
        <p:spPr>
          <a:xfrm>
            <a:off x="621792" y="3822191"/>
            <a:ext cx="3063240" cy="571500"/>
          </a:xfrm>
          <a:prstGeom prst="roundRect">
            <a:avLst>
              <a:gd name="adj" fmla="val 12000"/>
            </a:avLst>
          </a:prstGeom>
          <a:solidFill>
            <a:srgbClr val="14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3822191" y="3822191"/>
            <a:ext cx="7726679" cy="571500"/>
          </a:xfrm>
          <a:prstGeom prst="roundRect">
            <a:avLst>
              <a:gd name="adj" fmla="val 12000"/>
            </a:avLst>
          </a:prstGeom>
          <a:solidFill>
            <a:srgbClr val="14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 y="3822191"/>
            <a:ext cx="50292" cy="571500"/>
          </a:xfrm>
          <a:prstGeom prst="rect">
            <a:avLst/>
          </a:prstGeom>
          <a:solidFill>
            <a:srgbClr val="2ABE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5528" y="3895344"/>
            <a:ext cx="2697480" cy="461772"/>
          </a:xfrm>
          <a:prstGeom prst="rect">
            <a:avLst/>
          </a:prstGeom>
          <a:noFill/>
        </p:spPr>
        <p:txBody>
          <a:bodyPr wrap="square" lIns="36576" tIns="36576" rIns="36576" bIns="36576" anchor="ctr">
            <a:spAutoFit/>
          </a:bodyPr>
          <a:lstStyle/>
          <a:p>
            <a:pPr algn="l">
              <a:spcAft>
                <a:spcPts val="400"/>
              </a:spcAft>
            </a:pPr>
            <a:r>
              <a:rPr sz="1300" b="1" i="0">
                <a:solidFill>
                  <a:srgbClr val="F2F7FF"/>
                </a:solidFill>
                <a:latin typeface="Aptos"/>
              </a:rPr>
              <a:t>while loop</a:t>
            </a:r>
            <a:endParaRPr sz="1300" b="1" i="0">
              <a:solidFill>
                <a:srgbClr val="F2F7FF"/>
              </a:solidFill>
              <a:latin typeface="Aptos"/>
            </a:endParaRPr>
          </a:p>
        </p:txBody>
      </p:sp>
      <p:sp>
        <p:nvSpPr>
          <p:cNvPr id="26" name="TextBox 25"/>
          <p:cNvSpPr txBox="1"/>
          <p:nvPr/>
        </p:nvSpPr>
        <p:spPr>
          <a:xfrm>
            <a:off x="4041648" y="3877055"/>
            <a:ext cx="7269480" cy="480060"/>
          </a:xfrm>
          <a:prstGeom prst="rect">
            <a:avLst/>
          </a:prstGeom>
          <a:noFill/>
        </p:spPr>
        <p:txBody>
          <a:bodyPr wrap="square" lIns="36576" tIns="36576" rIns="36576" bIns="36576" anchor="ctr">
            <a:spAutoFit/>
          </a:bodyPr>
          <a:lstStyle/>
          <a:p>
            <a:pPr algn="l">
              <a:spcAft>
                <a:spcPts val="400"/>
              </a:spcAft>
            </a:pPr>
            <a:r>
              <a:rPr sz="1200" b="0" i="0">
                <a:solidFill>
                  <a:srgbClr val="F2F7FF"/>
                </a:solidFill>
                <a:latin typeface="Aptos"/>
              </a:rPr>
              <a:t>Keep asking for a valid whole-number input until Scanner receives an integer.</a:t>
            </a:r>
            <a:endParaRPr sz="1200" b="0" i="0">
              <a:solidFill>
                <a:srgbClr val="F2F7FF"/>
              </a:solidFill>
              <a:latin typeface="Aptos"/>
            </a:endParaRPr>
          </a:p>
        </p:txBody>
      </p:sp>
      <p:sp>
        <p:nvSpPr>
          <p:cNvPr id="27" name="Rounded Rectangle 26"/>
          <p:cNvSpPr/>
          <p:nvPr/>
        </p:nvSpPr>
        <p:spPr>
          <a:xfrm>
            <a:off x="621792" y="4485131"/>
            <a:ext cx="3063240" cy="571500"/>
          </a:xfrm>
          <a:prstGeom prst="roundRect">
            <a:avLst>
              <a:gd name="adj" fmla="val 12000"/>
            </a:avLst>
          </a:prstGeom>
          <a:solidFill>
            <a:srgbClr val="14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3822191" y="4485131"/>
            <a:ext cx="7726679" cy="571500"/>
          </a:xfrm>
          <a:prstGeom prst="roundRect">
            <a:avLst>
              <a:gd name="adj" fmla="val 12000"/>
            </a:avLst>
          </a:prstGeom>
          <a:solidFill>
            <a:srgbClr val="14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1792" y="4485131"/>
            <a:ext cx="50292" cy="571500"/>
          </a:xfrm>
          <a:prstGeom prst="rect">
            <a:avLst/>
          </a:prstGeom>
          <a:solidFill>
            <a:srgbClr val="42DA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5528" y="4558283"/>
            <a:ext cx="2697480" cy="461772"/>
          </a:xfrm>
          <a:prstGeom prst="rect">
            <a:avLst/>
          </a:prstGeom>
          <a:noFill/>
        </p:spPr>
        <p:txBody>
          <a:bodyPr wrap="square" lIns="36576" tIns="36576" rIns="36576" bIns="36576" anchor="ctr">
            <a:spAutoFit/>
          </a:bodyPr>
          <a:lstStyle/>
          <a:p>
            <a:pPr algn="l">
              <a:spcAft>
                <a:spcPts val="400"/>
              </a:spcAft>
            </a:pPr>
            <a:r>
              <a:rPr sz="1300" b="1" i="0">
                <a:solidFill>
                  <a:srgbClr val="F2F7FF"/>
                </a:solidFill>
                <a:latin typeface="Aptos"/>
              </a:rPr>
              <a:t>do-while loop</a:t>
            </a:r>
            <a:endParaRPr sz="1300" b="1" i="0">
              <a:solidFill>
                <a:srgbClr val="F2F7FF"/>
              </a:solidFill>
              <a:latin typeface="Aptos"/>
            </a:endParaRPr>
          </a:p>
        </p:txBody>
      </p:sp>
      <p:sp>
        <p:nvSpPr>
          <p:cNvPr id="31" name="TextBox 30"/>
          <p:cNvSpPr txBox="1"/>
          <p:nvPr/>
        </p:nvSpPr>
        <p:spPr>
          <a:xfrm>
            <a:off x="4041648" y="4539995"/>
            <a:ext cx="7269480" cy="480060"/>
          </a:xfrm>
          <a:prstGeom prst="rect">
            <a:avLst/>
          </a:prstGeom>
          <a:noFill/>
        </p:spPr>
        <p:txBody>
          <a:bodyPr wrap="square" lIns="36576" tIns="36576" rIns="36576" bIns="36576" anchor="ctr">
            <a:spAutoFit/>
          </a:bodyPr>
          <a:lstStyle/>
          <a:p>
            <a:pPr algn="l">
              <a:spcAft>
                <a:spcPts val="400"/>
              </a:spcAft>
            </a:pPr>
            <a:r>
              <a:rPr sz="1200" b="0" i="0">
                <a:solidFill>
                  <a:srgbClr val="F2F7FF"/>
                </a:solidFill>
                <a:latin typeface="Aptos"/>
              </a:rPr>
              <a:t>Repeat the main menu and continue order entry until the user chooses to finish.</a:t>
            </a:r>
            <a:endParaRPr sz="1200" b="0" i="0">
              <a:solidFill>
                <a:srgbClr val="F2F7FF"/>
              </a:solidFill>
              <a:latin typeface="Aptos"/>
            </a:endParaRPr>
          </a:p>
        </p:txBody>
      </p:sp>
      <p:sp>
        <p:nvSpPr>
          <p:cNvPr id="32" name="Rounded Rectangle 31"/>
          <p:cNvSpPr/>
          <p:nvPr/>
        </p:nvSpPr>
        <p:spPr>
          <a:xfrm>
            <a:off x="621792" y="5148072"/>
            <a:ext cx="3063240" cy="571500"/>
          </a:xfrm>
          <a:prstGeom prst="roundRect">
            <a:avLst>
              <a:gd name="adj" fmla="val 12000"/>
            </a:avLst>
          </a:prstGeom>
          <a:solidFill>
            <a:srgbClr val="14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3822191" y="5148072"/>
            <a:ext cx="7726679" cy="571500"/>
          </a:xfrm>
          <a:prstGeom prst="roundRect">
            <a:avLst>
              <a:gd name="adj" fmla="val 12000"/>
            </a:avLst>
          </a:prstGeom>
          <a:solidFill>
            <a:srgbClr val="14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21792" y="5148072"/>
            <a:ext cx="50292" cy="571500"/>
          </a:xfrm>
          <a:prstGeom prst="rect">
            <a:avLst/>
          </a:prstGeom>
          <a:solidFill>
            <a:srgbClr val="2ABE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5528" y="5221224"/>
            <a:ext cx="2697480" cy="461772"/>
          </a:xfrm>
          <a:prstGeom prst="rect">
            <a:avLst/>
          </a:prstGeom>
          <a:noFill/>
        </p:spPr>
        <p:txBody>
          <a:bodyPr wrap="square" lIns="36576" tIns="36576" rIns="36576" bIns="36576" anchor="ctr">
            <a:spAutoFit/>
          </a:bodyPr>
          <a:lstStyle/>
          <a:p>
            <a:pPr algn="l">
              <a:spcAft>
                <a:spcPts val="400"/>
              </a:spcAft>
            </a:pPr>
            <a:r>
              <a:rPr sz="1300" b="1" i="0">
                <a:solidFill>
                  <a:srgbClr val="F2F7FF"/>
                </a:solidFill>
                <a:latin typeface="Aptos"/>
              </a:rPr>
              <a:t>for &amp; enhanced for loops</a:t>
            </a:r>
            <a:endParaRPr sz="1300" b="1" i="0">
              <a:solidFill>
                <a:srgbClr val="F2F7FF"/>
              </a:solidFill>
              <a:latin typeface="Aptos"/>
            </a:endParaRPr>
          </a:p>
        </p:txBody>
      </p:sp>
      <p:sp>
        <p:nvSpPr>
          <p:cNvPr id="36" name="TextBox 35"/>
          <p:cNvSpPr txBox="1"/>
          <p:nvPr/>
        </p:nvSpPr>
        <p:spPr>
          <a:xfrm>
            <a:off x="4041648" y="5202936"/>
            <a:ext cx="7269480" cy="480060"/>
          </a:xfrm>
          <a:prstGeom prst="rect">
            <a:avLst/>
          </a:prstGeom>
          <a:noFill/>
        </p:spPr>
        <p:txBody>
          <a:bodyPr wrap="square" lIns="36576" tIns="36576" rIns="36576" bIns="36576" anchor="ctr">
            <a:spAutoFit/>
          </a:bodyPr>
          <a:lstStyle/>
          <a:p>
            <a:pPr algn="l">
              <a:spcAft>
                <a:spcPts val="400"/>
              </a:spcAft>
            </a:pPr>
            <a:r>
              <a:rPr sz="1200" b="0" i="0">
                <a:solidFill>
                  <a:srgbClr val="F2F7FF"/>
                </a:solidFill>
                <a:latin typeface="Aptos"/>
              </a:rPr>
              <a:t>Process menu items and prices; print menu items and order lines.</a:t>
            </a:r>
            <a:endParaRPr sz="1200" b="0" i="0">
              <a:solidFill>
                <a:srgbClr val="F2F7FF"/>
              </a:solidFill>
              <a:latin typeface="Aptos"/>
            </a:endParaRPr>
          </a:p>
        </p:txBody>
      </p:sp>
      <p:sp>
        <p:nvSpPr>
          <p:cNvPr id="37" name="Rounded Rectangle 36"/>
          <p:cNvSpPr/>
          <p:nvPr/>
        </p:nvSpPr>
        <p:spPr>
          <a:xfrm>
            <a:off x="621792" y="5811012"/>
            <a:ext cx="3063240" cy="571500"/>
          </a:xfrm>
          <a:prstGeom prst="roundRect">
            <a:avLst>
              <a:gd name="adj" fmla="val 12000"/>
            </a:avLst>
          </a:prstGeom>
          <a:solidFill>
            <a:srgbClr val="14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3822191" y="5811012"/>
            <a:ext cx="7726679" cy="571500"/>
          </a:xfrm>
          <a:prstGeom prst="roundRect">
            <a:avLst>
              <a:gd name="adj" fmla="val 12000"/>
            </a:avLst>
          </a:prstGeom>
          <a:solidFill>
            <a:srgbClr val="14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21792" y="5811012"/>
            <a:ext cx="50292" cy="571500"/>
          </a:xfrm>
          <a:prstGeom prst="rect">
            <a:avLst/>
          </a:prstGeom>
          <a:solidFill>
            <a:srgbClr val="42DA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95528" y="5884164"/>
            <a:ext cx="2697480" cy="461772"/>
          </a:xfrm>
          <a:prstGeom prst="rect">
            <a:avLst/>
          </a:prstGeom>
          <a:noFill/>
        </p:spPr>
        <p:txBody>
          <a:bodyPr wrap="square" lIns="36576" tIns="36576" rIns="36576" bIns="36576" anchor="ctr">
            <a:spAutoFit/>
          </a:bodyPr>
          <a:lstStyle/>
          <a:p>
            <a:pPr algn="l">
              <a:spcAft>
                <a:spcPts val="400"/>
              </a:spcAft>
            </a:pPr>
            <a:r>
              <a:rPr sz="1300" b="1" i="0">
                <a:solidFill>
                  <a:srgbClr val="F2F7FF"/>
                </a:solidFill>
                <a:latin typeface="Aptos"/>
              </a:rPr>
              <a:t>break &amp; continue</a:t>
            </a:r>
            <a:endParaRPr sz="1300" b="1" i="0">
              <a:solidFill>
                <a:srgbClr val="F2F7FF"/>
              </a:solidFill>
              <a:latin typeface="Aptos"/>
            </a:endParaRPr>
          </a:p>
        </p:txBody>
      </p:sp>
      <p:sp>
        <p:nvSpPr>
          <p:cNvPr id="41" name="TextBox 40"/>
          <p:cNvSpPr txBox="1"/>
          <p:nvPr/>
        </p:nvSpPr>
        <p:spPr>
          <a:xfrm>
            <a:off x="4041648" y="5865876"/>
            <a:ext cx="7269480" cy="480060"/>
          </a:xfrm>
          <a:prstGeom prst="rect">
            <a:avLst/>
          </a:prstGeom>
          <a:noFill/>
        </p:spPr>
        <p:txBody>
          <a:bodyPr wrap="square" lIns="36576" tIns="36576" rIns="36576" bIns="36576" anchor="ctr">
            <a:spAutoFit/>
          </a:bodyPr>
          <a:lstStyle/>
          <a:p>
            <a:pPr algn="l">
              <a:spcAft>
                <a:spcPts val="400"/>
              </a:spcAft>
            </a:pPr>
            <a:r>
              <a:rPr sz="1200" b="0" i="0">
                <a:solidFill>
                  <a:srgbClr val="F2F7FF"/>
                </a:solidFill>
                <a:latin typeface="Aptos"/>
              </a:rPr>
              <a:t>Stop order entry when 0 is entered; skip unknown items or invalid quantities.</a:t>
            </a:r>
            <a:endParaRPr sz="1200" b="0" i="0">
              <a:solidFill>
                <a:srgbClr val="F2F7FF"/>
              </a:solidFill>
              <a:latin typeface="Aptos"/>
            </a:endParaRPr>
          </a:p>
        </p:txBody>
      </p:sp>
      <p:sp>
        <p:nvSpPr>
          <p:cNvPr id="43" name="Rectangle 42"/>
          <p:cNvSpPr/>
          <p:nvPr/>
        </p:nvSpPr>
        <p:spPr>
          <a:xfrm>
            <a:off x="164592" y="0"/>
            <a:ext cx="1234440" cy="365760"/>
          </a:xfrm>
          <a:prstGeom prst="rect">
            <a:avLst/>
          </a:prstGeom>
          <a:solidFill>
            <a:srgbClr val="081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8122B"/>
        </a:solidFill>
        <a:effectLst/>
      </p:bgPr>
    </p:bg>
    <p:spTree>
      <p:nvGrpSpPr>
        <p:cNvPr id="1" name=""/>
        <p:cNvGrpSpPr/>
        <p:nvPr/>
      </p:nvGrpSpPr>
      <p:grpSpPr>
        <a:xfrm>
          <a:off x="0" y="0"/>
          <a:ext cx="0" cy="0"/>
          <a:chOff x="0" y="0"/>
          <a:chExt cx="0" cy="0"/>
        </a:xfrm>
      </p:grpSpPr>
      <p:sp>
        <p:nvSpPr>
          <p:cNvPr id="2" name="Rectangle 1"/>
          <p:cNvSpPr/>
          <p:nvPr/>
        </p:nvSpPr>
        <p:spPr>
          <a:xfrm>
            <a:off x="594360" y="438912"/>
            <a:ext cx="91440" cy="384048"/>
          </a:xfrm>
          <a:prstGeom prst="rect">
            <a:avLst/>
          </a:prstGeom>
          <a:solidFill>
            <a:srgbClr val="42DA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04672" y="429768"/>
            <a:ext cx="2286000" cy="256032"/>
          </a:xfrm>
          <a:prstGeom prst="rect">
            <a:avLst/>
          </a:prstGeom>
          <a:noFill/>
        </p:spPr>
        <p:txBody>
          <a:bodyPr wrap="square" lIns="36576" tIns="36576" rIns="36576" bIns="36576" anchor="t">
            <a:spAutoFit/>
          </a:bodyPr>
          <a:lstStyle/>
          <a:p>
            <a:pPr algn="l">
              <a:spcAft>
                <a:spcPts val="400"/>
              </a:spcAft>
            </a:pPr>
            <a:r>
              <a:rPr sz="1000" b="1" i="0">
                <a:solidFill>
                  <a:srgbClr val="42DAE6"/>
                </a:solidFill>
                <a:latin typeface="Aptos"/>
              </a:rPr>
              <a:t>CO 3  /  MODULE 3</a:t>
            </a:r>
            <a:endParaRPr sz="1000" b="1" i="0">
              <a:solidFill>
                <a:srgbClr val="42DAE6"/>
              </a:solidFill>
              <a:latin typeface="Aptos"/>
            </a:endParaRPr>
          </a:p>
        </p:txBody>
      </p:sp>
      <p:sp>
        <p:nvSpPr>
          <p:cNvPr id="4" name="TextBox 3"/>
          <p:cNvSpPr txBox="1"/>
          <p:nvPr/>
        </p:nvSpPr>
        <p:spPr>
          <a:xfrm>
            <a:off x="594360" y="841248"/>
            <a:ext cx="10972800" cy="530352"/>
          </a:xfrm>
          <a:prstGeom prst="rect">
            <a:avLst/>
          </a:prstGeom>
          <a:noFill/>
        </p:spPr>
        <p:txBody>
          <a:bodyPr wrap="square" lIns="36576" tIns="36576" rIns="36576" bIns="36576" anchor="t">
            <a:spAutoFit/>
          </a:bodyPr>
          <a:lstStyle/>
          <a:p>
            <a:pPr algn="l">
              <a:spcAft>
                <a:spcPts val="400"/>
              </a:spcAft>
            </a:pPr>
            <a:r>
              <a:rPr sz="2900" b="1" i="0">
                <a:solidFill>
                  <a:srgbClr val="F2F7FF"/>
                </a:solidFill>
                <a:latin typeface="Aptos"/>
              </a:rPr>
              <a:t>CO 3  |  Methods, Recursion &amp; Arrays</a:t>
            </a:r>
            <a:endParaRPr sz="2900" b="1" i="0">
              <a:solidFill>
                <a:srgbClr val="F2F7FF"/>
              </a:solidFill>
              <a:latin typeface="Aptos"/>
            </a:endParaRPr>
          </a:p>
        </p:txBody>
      </p:sp>
      <p:sp>
        <p:nvSpPr>
          <p:cNvPr id="5" name="TextBox 4"/>
          <p:cNvSpPr txBox="1"/>
          <p:nvPr/>
        </p:nvSpPr>
        <p:spPr>
          <a:xfrm>
            <a:off x="621792" y="1399032"/>
            <a:ext cx="10881360" cy="384048"/>
          </a:xfrm>
          <a:prstGeom prst="rect">
            <a:avLst/>
          </a:prstGeom>
          <a:noFill/>
        </p:spPr>
        <p:txBody>
          <a:bodyPr wrap="square" lIns="36576" tIns="36576" rIns="36576" bIns="36576" anchor="t">
            <a:spAutoFit/>
          </a:bodyPr>
          <a:lstStyle/>
          <a:p>
            <a:pPr algn="l">
              <a:spcAft>
                <a:spcPts val="400"/>
              </a:spcAft>
            </a:pPr>
            <a:r>
              <a:rPr sz="1200" b="0" i="0">
                <a:solidFill>
                  <a:srgbClr val="B4C5DD"/>
                </a:solidFill>
                <a:latin typeface="Aptos"/>
              </a:rPr>
              <a:t>Decomposition with Methods, Recursion &amp; Arrays</a:t>
            </a:r>
            <a:endParaRPr sz="1200" b="0" i="0">
              <a:solidFill>
                <a:srgbClr val="B4C5DD"/>
              </a:solidFill>
              <a:latin typeface="Aptos"/>
            </a:endParaRPr>
          </a:p>
        </p:txBody>
      </p:sp>
      <p:sp>
        <p:nvSpPr>
          <p:cNvPr id="6" name="Rectangle 5"/>
          <p:cNvSpPr/>
          <p:nvPr/>
        </p:nvSpPr>
        <p:spPr>
          <a:xfrm>
            <a:off x="594360" y="6455664"/>
            <a:ext cx="10972800" cy="10972"/>
          </a:xfrm>
          <a:prstGeom prst="rect">
            <a:avLst/>
          </a:prstGeom>
          <a:solidFill>
            <a:srgbClr val="1934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64240" y="6492240"/>
            <a:ext cx="457200" cy="182880"/>
          </a:xfrm>
          <a:prstGeom prst="rect">
            <a:avLst/>
          </a:prstGeom>
          <a:noFill/>
        </p:spPr>
        <p:txBody>
          <a:bodyPr wrap="square" lIns="36576" tIns="36576" rIns="36576" bIns="36576" anchor="t">
            <a:spAutoFit/>
          </a:bodyPr>
          <a:lstStyle/>
          <a:p>
            <a:pPr algn="r">
              <a:spcAft>
                <a:spcPts val="400"/>
              </a:spcAft>
            </a:pPr>
            <a:r>
              <a:rPr sz="900" b="1" i="0">
                <a:solidFill>
                  <a:srgbClr val="B4C5DD"/>
                </a:solidFill>
                <a:latin typeface="Aptos"/>
              </a:rPr>
              <a:t>06</a:t>
            </a:r>
            <a:endParaRPr sz="900" b="1" i="0">
              <a:solidFill>
                <a:srgbClr val="B4C5DD"/>
              </a:solidFill>
              <a:latin typeface="Aptos"/>
            </a:endParaRPr>
          </a:p>
        </p:txBody>
      </p:sp>
      <p:sp>
        <p:nvSpPr>
          <p:cNvPr id="8" name="Rounded Rectangle 7"/>
          <p:cNvSpPr/>
          <p:nvPr/>
        </p:nvSpPr>
        <p:spPr>
          <a:xfrm>
            <a:off x="621792" y="1938528"/>
            <a:ext cx="3063240" cy="438912"/>
          </a:xfrm>
          <a:prstGeom prst="roundRect">
            <a:avLst>
              <a:gd name="adj" fmla="val 12000"/>
            </a:avLst>
          </a:prstGeom>
          <a:solidFill>
            <a:srgbClr val="1650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822191" y="1938528"/>
            <a:ext cx="7726679" cy="438912"/>
          </a:xfrm>
          <a:prstGeom prst="roundRect">
            <a:avLst>
              <a:gd name="adj" fmla="val 12000"/>
            </a:avLst>
          </a:prstGeom>
          <a:solidFill>
            <a:srgbClr val="1650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2020824"/>
            <a:ext cx="2697480" cy="228600"/>
          </a:xfrm>
          <a:prstGeom prst="rect">
            <a:avLst/>
          </a:prstGeom>
          <a:noFill/>
        </p:spPr>
        <p:txBody>
          <a:bodyPr wrap="square" lIns="36576" tIns="36576" rIns="36576" bIns="36576" anchor="t">
            <a:spAutoFit/>
          </a:bodyPr>
          <a:lstStyle/>
          <a:p>
            <a:pPr algn="l">
              <a:spcAft>
                <a:spcPts val="400"/>
              </a:spcAft>
            </a:pPr>
            <a:r>
              <a:rPr sz="1100" b="1" i="0">
                <a:solidFill>
                  <a:srgbClr val="42DAE6"/>
                </a:solidFill>
                <a:latin typeface="Aptos"/>
              </a:rPr>
              <a:t>TOPIC USED</a:t>
            </a:r>
            <a:endParaRPr sz="1100" b="1" i="0">
              <a:solidFill>
                <a:srgbClr val="42DAE6"/>
              </a:solidFill>
              <a:latin typeface="Aptos"/>
            </a:endParaRPr>
          </a:p>
        </p:txBody>
      </p:sp>
      <p:sp>
        <p:nvSpPr>
          <p:cNvPr id="11" name="TextBox 10"/>
          <p:cNvSpPr txBox="1"/>
          <p:nvPr/>
        </p:nvSpPr>
        <p:spPr>
          <a:xfrm>
            <a:off x="4041648" y="2020824"/>
            <a:ext cx="7223760" cy="228600"/>
          </a:xfrm>
          <a:prstGeom prst="rect">
            <a:avLst/>
          </a:prstGeom>
          <a:noFill/>
        </p:spPr>
        <p:txBody>
          <a:bodyPr wrap="square" lIns="36576" tIns="36576" rIns="36576" bIns="36576" anchor="t">
            <a:spAutoFit/>
          </a:bodyPr>
          <a:lstStyle/>
          <a:p>
            <a:pPr algn="l">
              <a:spcAft>
                <a:spcPts val="400"/>
              </a:spcAft>
            </a:pPr>
            <a:r>
              <a:rPr sz="1100" b="1" i="0">
                <a:solidFill>
                  <a:srgbClr val="42DAE6"/>
                </a:solidFill>
                <a:latin typeface="Aptos"/>
              </a:rPr>
              <a:t>PURPOSE IN OUR CODE</a:t>
            </a:r>
            <a:endParaRPr sz="1100" b="1" i="0">
              <a:solidFill>
                <a:srgbClr val="42DAE6"/>
              </a:solidFill>
              <a:latin typeface="Aptos"/>
            </a:endParaRPr>
          </a:p>
        </p:txBody>
      </p:sp>
      <p:sp>
        <p:nvSpPr>
          <p:cNvPr id="12" name="Rounded Rectangle 11"/>
          <p:cNvSpPr/>
          <p:nvPr/>
        </p:nvSpPr>
        <p:spPr>
          <a:xfrm>
            <a:off x="621792" y="2496312"/>
            <a:ext cx="3063240" cy="571500"/>
          </a:xfrm>
          <a:prstGeom prst="roundRect">
            <a:avLst>
              <a:gd name="adj" fmla="val 12000"/>
            </a:avLst>
          </a:prstGeom>
          <a:solidFill>
            <a:srgbClr val="14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822191" y="2496312"/>
            <a:ext cx="7726679" cy="571500"/>
          </a:xfrm>
          <a:prstGeom prst="roundRect">
            <a:avLst>
              <a:gd name="adj" fmla="val 12000"/>
            </a:avLst>
          </a:prstGeom>
          <a:solidFill>
            <a:srgbClr val="14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 y="2496312"/>
            <a:ext cx="50292" cy="571500"/>
          </a:xfrm>
          <a:prstGeom prst="rect">
            <a:avLst/>
          </a:prstGeom>
          <a:solidFill>
            <a:srgbClr val="2ABE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95528" y="2569464"/>
            <a:ext cx="2697480" cy="461772"/>
          </a:xfrm>
          <a:prstGeom prst="rect">
            <a:avLst/>
          </a:prstGeom>
          <a:noFill/>
        </p:spPr>
        <p:txBody>
          <a:bodyPr wrap="square" lIns="36576" tIns="36576" rIns="36576" bIns="36576" anchor="ctr">
            <a:spAutoFit/>
          </a:bodyPr>
          <a:lstStyle/>
          <a:p>
            <a:pPr algn="l">
              <a:spcAft>
                <a:spcPts val="400"/>
              </a:spcAft>
            </a:pPr>
            <a:r>
              <a:rPr sz="1300" b="1" i="0">
                <a:solidFill>
                  <a:srgbClr val="F2F7FF"/>
                </a:solidFill>
                <a:latin typeface="Aptos"/>
              </a:rPr>
              <a:t>Modular methods</a:t>
            </a:r>
            <a:endParaRPr sz="1300" b="1" i="0">
              <a:solidFill>
                <a:srgbClr val="F2F7FF"/>
              </a:solidFill>
              <a:latin typeface="Aptos"/>
            </a:endParaRPr>
          </a:p>
        </p:txBody>
      </p:sp>
      <p:sp>
        <p:nvSpPr>
          <p:cNvPr id="16" name="TextBox 15"/>
          <p:cNvSpPr txBox="1"/>
          <p:nvPr/>
        </p:nvSpPr>
        <p:spPr>
          <a:xfrm>
            <a:off x="4041648" y="2551176"/>
            <a:ext cx="7269480" cy="480060"/>
          </a:xfrm>
          <a:prstGeom prst="rect">
            <a:avLst/>
          </a:prstGeom>
          <a:noFill/>
        </p:spPr>
        <p:txBody>
          <a:bodyPr wrap="square" lIns="36576" tIns="36576" rIns="36576" bIns="36576" anchor="ctr">
            <a:spAutoFit/>
          </a:bodyPr>
          <a:lstStyle/>
          <a:p>
            <a:pPr algn="l">
              <a:spcAft>
                <a:spcPts val="400"/>
              </a:spcAft>
            </a:pPr>
            <a:r>
              <a:rPr sz="1200" b="0" i="0">
                <a:solidFill>
                  <a:srgbClr val="F2F7FF"/>
                </a:solidFill>
                <a:latin typeface="Aptos"/>
              </a:rPr>
              <a:t>Separate menu display, placing orders, searching, sorting, saving, and reading orders into tasks.</a:t>
            </a:r>
            <a:endParaRPr sz="1200" b="0" i="0">
              <a:solidFill>
                <a:srgbClr val="F2F7FF"/>
              </a:solidFill>
              <a:latin typeface="Aptos"/>
            </a:endParaRPr>
          </a:p>
        </p:txBody>
      </p:sp>
      <p:sp>
        <p:nvSpPr>
          <p:cNvPr id="17" name="Rounded Rectangle 16"/>
          <p:cNvSpPr/>
          <p:nvPr/>
        </p:nvSpPr>
        <p:spPr>
          <a:xfrm>
            <a:off x="621792" y="3159252"/>
            <a:ext cx="3063240" cy="571500"/>
          </a:xfrm>
          <a:prstGeom prst="roundRect">
            <a:avLst>
              <a:gd name="adj" fmla="val 12000"/>
            </a:avLst>
          </a:prstGeom>
          <a:solidFill>
            <a:srgbClr val="14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822191" y="3159252"/>
            <a:ext cx="7726679" cy="571500"/>
          </a:xfrm>
          <a:prstGeom prst="roundRect">
            <a:avLst>
              <a:gd name="adj" fmla="val 12000"/>
            </a:avLst>
          </a:prstGeom>
          <a:solidFill>
            <a:srgbClr val="14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 y="3159252"/>
            <a:ext cx="50292" cy="571500"/>
          </a:xfrm>
          <a:prstGeom prst="rect">
            <a:avLst/>
          </a:prstGeom>
          <a:solidFill>
            <a:srgbClr val="42DA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5528" y="3232404"/>
            <a:ext cx="2697480" cy="461772"/>
          </a:xfrm>
          <a:prstGeom prst="rect">
            <a:avLst/>
          </a:prstGeom>
          <a:noFill/>
        </p:spPr>
        <p:txBody>
          <a:bodyPr wrap="square" lIns="36576" tIns="36576" rIns="36576" bIns="36576" anchor="ctr">
            <a:spAutoFit/>
          </a:bodyPr>
          <a:lstStyle/>
          <a:p>
            <a:pPr algn="l">
              <a:spcAft>
                <a:spcPts val="400"/>
              </a:spcAft>
            </a:pPr>
            <a:r>
              <a:rPr sz="1300" b="1" i="0">
                <a:solidFill>
                  <a:srgbClr val="F2F7FF"/>
                </a:solidFill>
                <a:latin typeface="Aptos"/>
              </a:rPr>
              <a:t>Parameters &amp; return values</a:t>
            </a:r>
            <a:endParaRPr sz="1300" b="1" i="0">
              <a:solidFill>
                <a:srgbClr val="F2F7FF"/>
              </a:solidFill>
              <a:latin typeface="Aptos"/>
            </a:endParaRPr>
          </a:p>
        </p:txBody>
      </p:sp>
      <p:sp>
        <p:nvSpPr>
          <p:cNvPr id="21" name="TextBox 20"/>
          <p:cNvSpPr txBox="1"/>
          <p:nvPr/>
        </p:nvSpPr>
        <p:spPr>
          <a:xfrm>
            <a:off x="4041648" y="3214116"/>
            <a:ext cx="7269480" cy="480060"/>
          </a:xfrm>
          <a:prstGeom prst="rect">
            <a:avLst/>
          </a:prstGeom>
          <a:noFill/>
        </p:spPr>
        <p:txBody>
          <a:bodyPr wrap="square" lIns="36576" tIns="36576" rIns="36576" bIns="36576" anchor="ctr">
            <a:spAutoFit/>
          </a:bodyPr>
          <a:lstStyle/>
          <a:p>
            <a:pPr algn="l">
              <a:spcAft>
                <a:spcPts val="400"/>
              </a:spcAft>
            </a:pPr>
            <a:r>
              <a:rPr sz="1200" b="0" i="0">
                <a:solidFill>
                  <a:srgbClr val="F2F7FF"/>
                </a:solidFill>
                <a:latin typeface="Aptos"/>
              </a:rPr>
              <a:t>Pass items, quantities, and discount rates; return input values and calculated totals.</a:t>
            </a:r>
            <a:endParaRPr sz="1200" b="0" i="0">
              <a:solidFill>
                <a:srgbClr val="F2F7FF"/>
              </a:solidFill>
              <a:latin typeface="Aptos"/>
            </a:endParaRPr>
          </a:p>
        </p:txBody>
      </p:sp>
      <p:sp>
        <p:nvSpPr>
          <p:cNvPr id="22" name="Rounded Rectangle 21"/>
          <p:cNvSpPr/>
          <p:nvPr/>
        </p:nvSpPr>
        <p:spPr>
          <a:xfrm>
            <a:off x="621792" y="3822191"/>
            <a:ext cx="3063240" cy="571500"/>
          </a:xfrm>
          <a:prstGeom prst="roundRect">
            <a:avLst>
              <a:gd name="adj" fmla="val 12000"/>
            </a:avLst>
          </a:prstGeom>
          <a:solidFill>
            <a:srgbClr val="14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3822191" y="3822191"/>
            <a:ext cx="7726679" cy="571500"/>
          </a:xfrm>
          <a:prstGeom prst="roundRect">
            <a:avLst>
              <a:gd name="adj" fmla="val 12000"/>
            </a:avLst>
          </a:prstGeom>
          <a:solidFill>
            <a:srgbClr val="14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 y="3822191"/>
            <a:ext cx="50292" cy="571500"/>
          </a:xfrm>
          <a:prstGeom prst="rect">
            <a:avLst/>
          </a:prstGeom>
          <a:solidFill>
            <a:srgbClr val="2ABE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5528" y="3895344"/>
            <a:ext cx="2697480" cy="461772"/>
          </a:xfrm>
          <a:prstGeom prst="rect">
            <a:avLst/>
          </a:prstGeom>
          <a:noFill/>
        </p:spPr>
        <p:txBody>
          <a:bodyPr wrap="square" lIns="36576" tIns="36576" rIns="36576" bIns="36576" anchor="ctr">
            <a:spAutoFit/>
          </a:bodyPr>
          <a:lstStyle/>
          <a:p>
            <a:pPr algn="l">
              <a:spcAft>
                <a:spcPts val="400"/>
              </a:spcAft>
            </a:pPr>
            <a:r>
              <a:rPr sz="1300" b="1" i="0">
                <a:solidFill>
                  <a:srgbClr val="F2F7FF"/>
                </a:solidFill>
                <a:latin typeface="Aptos"/>
              </a:rPr>
              <a:t>Method overloading</a:t>
            </a:r>
            <a:endParaRPr sz="1300" b="1" i="0">
              <a:solidFill>
                <a:srgbClr val="F2F7FF"/>
              </a:solidFill>
              <a:latin typeface="Aptos"/>
            </a:endParaRPr>
          </a:p>
        </p:txBody>
      </p:sp>
      <p:sp>
        <p:nvSpPr>
          <p:cNvPr id="26" name="TextBox 25"/>
          <p:cNvSpPr txBox="1"/>
          <p:nvPr/>
        </p:nvSpPr>
        <p:spPr>
          <a:xfrm>
            <a:off x="4041648" y="3877055"/>
            <a:ext cx="7269480" cy="480060"/>
          </a:xfrm>
          <a:prstGeom prst="rect">
            <a:avLst/>
          </a:prstGeom>
          <a:noFill/>
        </p:spPr>
        <p:txBody>
          <a:bodyPr wrap="square" lIns="36576" tIns="36576" rIns="36576" bIns="36576" anchor="ctr">
            <a:spAutoFit/>
          </a:bodyPr>
          <a:lstStyle/>
          <a:p>
            <a:pPr algn="l">
              <a:spcAft>
                <a:spcPts val="400"/>
              </a:spcAft>
            </a:pPr>
            <a:r>
              <a:rPr sz="1200" b="0" i="0">
                <a:solidFill>
                  <a:srgbClr val="F2F7FF"/>
                </a:solidFill>
                <a:latin typeface="Aptos"/>
              </a:rPr>
              <a:t>Provide calculateTotal() for the regular total and calculateTotal(discountRate) for a discounted total.</a:t>
            </a:r>
            <a:endParaRPr sz="1200" b="0" i="0">
              <a:solidFill>
                <a:srgbClr val="F2F7FF"/>
              </a:solidFill>
              <a:latin typeface="Aptos"/>
            </a:endParaRPr>
          </a:p>
        </p:txBody>
      </p:sp>
      <p:sp>
        <p:nvSpPr>
          <p:cNvPr id="27" name="Rounded Rectangle 26"/>
          <p:cNvSpPr/>
          <p:nvPr/>
        </p:nvSpPr>
        <p:spPr>
          <a:xfrm>
            <a:off x="621792" y="4485131"/>
            <a:ext cx="3063240" cy="571500"/>
          </a:xfrm>
          <a:prstGeom prst="roundRect">
            <a:avLst>
              <a:gd name="adj" fmla="val 12000"/>
            </a:avLst>
          </a:prstGeom>
          <a:solidFill>
            <a:srgbClr val="14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3822191" y="4485131"/>
            <a:ext cx="7726679" cy="571500"/>
          </a:xfrm>
          <a:prstGeom prst="roundRect">
            <a:avLst>
              <a:gd name="adj" fmla="val 12000"/>
            </a:avLst>
          </a:prstGeom>
          <a:solidFill>
            <a:srgbClr val="14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1792" y="4485131"/>
            <a:ext cx="50292" cy="571500"/>
          </a:xfrm>
          <a:prstGeom prst="rect">
            <a:avLst/>
          </a:prstGeom>
          <a:solidFill>
            <a:srgbClr val="42DA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5528" y="4558283"/>
            <a:ext cx="2697480" cy="461772"/>
          </a:xfrm>
          <a:prstGeom prst="rect">
            <a:avLst/>
          </a:prstGeom>
          <a:noFill/>
        </p:spPr>
        <p:txBody>
          <a:bodyPr wrap="square" lIns="36576" tIns="36576" rIns="36576" bIns="36576" anchor="ctr">
            <a:spAutoFit/>
          </a:bodyPr>
          <a:lstStyle/>
          <a:p>
            <a:pPr algn="l">
              <a:spcAft>
                <a:spcPts val="400"/>
              </a:spcAft>
            </a:pPr>
            <a:r>
              <a:rPr sz="1300" b="1" i="0">
                <a:solidFill>
                  <a:srgbClr val="F2F7FF"/>
                </a:solidFill>
                <a:latin typeface="Aptos"/>
              </a:rPr>
              <a:t>1D arrays: traversal, sort &amp; search</a:t>
            </a:r>
            <a:endParaRPr sz="1300" b="1" i="0">
              <a:solidFill>
                <a:srgbClr val="F2F7FF"/>
              </a:solidFill>
              <a:latin typeface="Aptos"/>
            </a:endParaRPr>
          </a:p>
        </p:txBody>
      </p:sp>
      <p:sp>
        <p:nvSpPr>
          <p:cNvPr id="31" name="TextBox 30"/>
          <p:cNvSpPr txBox="1"/>
          <p:nvPr/>
        </p:nvSpPr>
        <p:spPr>
          <a:xfrm>
            <a:off x="4041648" y="4539995"/>
            <a:ext cx="7269480" cy="480060"/>
          </a:xfrm>
          <a:prstGeom prst="rect">
            <a:avLst/>
          </a:prstGeom>
          <a:noFill/>
        </p:spPr>
        <p:txBody>
          <a:bodyPr wrap="square" lIns="36576" tIns="36576" rIns="36576" bIns="36576" anchor="ctr">
            <a:spAutoFit/>
          </a:bodyPr>
          <a:lstStyle/>
          <a:p>
            <a:pPr algn="l">
              <a:spcAft>
                <a:spcPts val="400"/>
              </a:spcAft>
            </a:pPr>
            <a:r>
              <a:rPr sz="1200" b="0" i="0">
                <a:solidFill>
                  <a:srgbClr val="F2F7FF"/>
                </a:solidFill>
                <a:latin typeface="Aptos"/>
              </a:rPr>
              <a:t>Store menu prices, sort them, and use binary search to find the target price.</a:t>
            </a:r>
            <a:endParaRPr sz="1200" b="0" i="0">
              <a:solidFill>
                <a:srgbClr val="F2F7FF"/>
              </a:solidFill>
              <a:latin typeface="Aptos"/>
            </a:endParaRPr>
          </a:p>
        </p:txBody>
      </p:sp>
      <p:sp>
        <p:nvSpPr>
          <p:cNvPr id="32" name="Rounded Rectangle 31"/>
          <p:cNvSpPr/>
          <p:nvPr/>
        </p:nvSpPr>
        <p:spPr>
          <a:xfrm>
            <a:off x="621792" y="5148072"/>
            <a:ext cx="3063240" cy="571500"/>
          </a:xfrm>
          <a:prstGeom prst="roundRect">
            <a:avLst>
              <a:gd name="adj" fmla="val 12000"/>
            </a:avLst>
          </a:prstGeom>
          <a:solidFill>
            <a:srgbClr val="14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3822191" y="5148072"/>
            <a:ext cx="7726679" cy="571500"/>
          </a:xfrm>
          <a:prstGeom prst="roundRect">
            <a:avLst>
              <a:gd name="adj" fmla="val 12000"/>
            </a:avLst>
          </a:prstGeom>
          <a:solidFill>
            <a:srgbClr val="14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21792" y="5148072"/>
            <a:ext cx="50292" cy="571500"/>
          </a:xfrm>
          <a:prstGeom prst="rect">
            <a:avLst/>
          </a:prstGeom>
          <a:solidFill>
            <a:srgbClr val="2ABE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5528" y="5221224"/>
            <a:ext cx="2697480" cy="461772"/>
          </a:xfrm>
          <a:prstGeom prst="rect">
            <a:avLst/>
          </a:prstGeom>
          <a:noFill/>
        </p:spPr>
        <p:txBody>
          <a:bodyPr wrap="square" lIns="36576" tIns="36576" rIns="36576" bIns="36576" anchor="ctr">
            <a:spAutoFit/>
          </a:bodyPr>
          <a:lstStyle/>
          <a:p>
            <a:pPr algn="l">
              <a:spcAft>
                <a:spcPts val="400"/>
              </a:spcAft>
            </a:pPr>
            <a:r>
              <a:rPr sz="1300" b="1" i="0">
                <a:solidFill>
                  <a:srgbClr val="F2F7FF"/>
                </a:solidFill>
                <a:latin typeface="Aptos"/>
              </a:rPr>
              <a:t>Recursion</a:t>
            </a:r>
            <a:endParaRPr sz="1300" b="1" i="0">
              <a:solidFill>
                <a:srgbClr val="F2F7FF"/>
              </a:solidFill>
              <a:latin typeface="Aptos"/>
            </a:endParaRPr>
          </a:p>
        </p:txBody>
      </p:sp>
      <p:sp>
        <p:nvSpPr>
          <p:cNvPr id="36" name="TextBox 35"/>
          <p:cNvSpPr txBox="1"/>
          <p:nvPr/>
        </p:nvSpPr>
        <p:spPr>
          <a:xfrm>
            <a:off x="4041648" y="5202936"/>
            <a:ext cx="7269480" cy="480060"/>
          </a:xfrm>
          <a:prstGeom prst="rect">
            <a:avLst/>
          </a:prstGeom>
          <a:noFill/>
        </p:spPr>
        <p:txBody>
          <a:bodyPr wrap="square" lIns="36576" tIns="36576" rIns="36576" bIns="36576" anchor="ctr">
            <a:spAutoFit/>
          </a:bodyPr>
          <a:lstStyle/>
          <a:p>
            <a:pPr algn="l">
              <a:spcAft>
                <a:spcPts val="400"/>
              </a:spcAft>
            </a:pPr>
            <a:r>
              <a:rPr sz="1200" b="0" i="0">
                <a:solidFill>
                  <a:srgbClr val="F2F7FF"/>
                </a:solidFill>
                <a:latin typeface="Aptos"/>
              </a:rPr>
              <a:t>recursiveSum() adds array values; its base case stops when the index reaches the array length.</a:t>
            </a:r>
            <a:endParaRPr sz="1200" b="0" i="0">
              <a:solidFill>
                <a:srgbClr val="F2F7FF"/>
              </a:solidFill>
              <a:latin typeface="Aptos"/>
            </a:endParaRPr>
          </a:p>
        </p:txBody>
      </p:sp>
      <p:sp>
        <p:nvSpPr>
          <p:cNvPr id="37" name="Rounded Rectangle 36"/>
          <p:cNvSpPr/>
          <p:nvPr/>
        </p:nvSpPr>
        <p:spPr>
          <a:xfrm>
            <a:off x="621792" y="5811012"/>
            <a:ext cx="3063240" cy="571500"/>
          </a:xfrm>
          <a:prstGeom prst="roundRect">
            <a:avLst>
              <a:gd name="adj" fmla="val 12000"/>
            </a:avLst>
          </a:prstGeom>
          <a:solidFill>
            <a:srgbClr val="14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3822191" y="5811012"/>
            <a:ext cx="7726679" cy="571500"/>
          </a:xfrm>
          <a:prstGeom prst="roundRect">
            <a:avLst>
              <a:gd name="adj" fmla="val 12000"/>
            </a:avLst>
          </a:prstGeom>
          <a:solidFill>
            <a:srgbClr val="14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21792" y="5811012"/>
            <a:ext cx="50292" cy="571500"/>
          </a:xfrm>
          <a:prstGeom prst="rect">
            <a:avLst/>
          </a:prstGeom>
          <a:solidFill>
            <a:srgbClr val="42DA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95528" y="5884164"/>
            <a:ext cx="2697480" cy="461772"/>
          </a:xfrm>
          <a:prstGeom prst="rect">
            <a:avLst/>
          </a:prstGeom>
          <a:noFill/>
        </p:spPr>
        <p:txBody>
          <a:bodyPr wrap="square" lIns="36576" tIns="36576" rIns="36576" bIns="36576" anchor="ctr">
            <a:spAutoFit/>
          </a:bodyPr>
          <a:lstStyle/>
          <a:p>
            <a:pPr algn="l">
              <a:spcAft>
                <a:spcPts val="400"/>
              </a:spcAft>
            </a:pPr>
            <a:r>
              <a:rPr sz="1300" b="1" i="0">
                <a:solidFill>
                  <a:srgbClr val="F2F7FF"/>
                </a:solidFill>
                <a:latin typeface="Aptos"/>
              </a:rPr>
              <a:t>Average, counting &amp; 2D arrays</a:t>
            </a:r>
            <a:endParaRPr sz="1300" b="1" i="0">
              <a:solidFill>
                <a:srgbClr val="F2F7FF"/>
              </a:solidFill>
              <a:latin typeface="Aptos"/>
            </a:endParaRPr>
          </a:p>
        </p:txBody>
      </p:sp>
      <p:sp>
        <p:nvSpPr>
          <p:cNvPr id="41" name="TextBox 40"/>
          <p:cNvSpPr txBox="1"/>
          <p:nvPr/>
        </p:nvSpPr>
        <p:spPr>
          <a:xfrm>
            <a:off x="4041648" y="5865876"/>
            <a:ext cx="7269480" cy="480060"/>
          </a:xfrm>
          <a:prstGeom prst="rect">
            <a:avLst/>
          </a:prstGeom>
          <a:noFill/>
        </p:spPr>
        <p:txBody>
          <a:bodyPr wrap="square" lIns="36576" tIns="36576" rIns="36576" bIns="36576" anchor="ctr">
            <a:spAutoFit/>
          </a:bodyPr>
          <a:lstStyle/>
          <a:p>
            <a:pPr algn="l">
              <a:spcAft>
                <a:spcPts val="400"/>
              </a:spcAft>
            </a:pPr>
            <a:r>
              <a:rPr sz="1200" b="0" i="0">
                <a:solidFill>
                  <a:srgbClr val="F2F7FF"/>
                </a:solidFill>
                <a:latin typeface="Aptos"/>
              </a:rPr>
              <a:t>Calculate average price; count items by category in the collection demo; add two sample matrices.</a:t>
            </a:r>
            <a:endParaRPr sz="1200" b="0" i="0">
              <a:solidFill>
                <a:srgbClr val="F2F7FF"/>
              </a:solidFill>
              <a:latin typeface="Aptos"/>
            </a:endParaRPr>
          </a:p>
        </p:txBody>
      </p:sp>
      <p:sp>
        <p:nvSpPr>
          <p:cNvPr id="43" name="Rectangle 42"/>
          <p:cNvSpPr/>
          <p:nvPr/>
        </p:nvSpPr>
        <p:spPr>
          <a:xfrm>
            <a:off x="164592" y="0"/>
            <a:ext cx="1234440" cy="365760"/>
          </a:xfrm>
          <a:prstGeom prst="rect">
            <a:avLst/>
          </a:prstGeom>
          <a:solidFill>
            <a:srgbClr val="081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8122B"/>
        </a:solidFill>
        <a:effectLst/>
      </p:bgPr>
    </p:bg>
    <p:spTree>
      <p:nvGrpSpPr>
        <p:cNvPr id="1" name=""/>
        <p:cNvGrpSpPr/>
        <p:nvPr/>
      </p:nvGrpSpPr>
      <p:grpSpPr>
        <a:xfrm>
          <a:off x="0" y="0"/>
          <a:ext cx="0" cy="0"/>
          <a:chOff x="0" y="0"/>
          <a:chExt cx="0" cy="0"/>
        </a:xfrm>
      </p:grpSpPr>
      <p:sp>
        <p:nvSpPr>
          <p:cNvPr id="2" name="Rectangle 1"/>
          <p:cNvSpPr/>
          <p:nvPr/>
        </p:nvSpPr>
        <p:spPr>
          <a:xfrm>
            <a:off x="594360" y="438912"/>
            <a:ext cx="91440" cy="384048"/>
          </a:xfrm>
          <a:prstGeom prst="rect">
            <a:avLst/>
          </a:prstGeom>
          <a:solidFill>
            <a:srgbClr val="42DA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04672" y="429768"/>
            <a:ext cx="2286000" cy="256032"/>
          </a:xfrm>
          <a:prstGeom prst="rect">
            <a:avLst/>
          </a:prstGeom>
          <a:noFill/>
        </p:spPr>
        <p:txBody>
          <a:bodyPr wrap="square" lIns="36576" tIns="36576" rIns="36576" bIns="36576" anchor="t">
            <a:spAutoFit/>
          </a:bodyPr>
          <a:lstStyle/>
          <a:p>
            <a:pPr algn="l">
              <a:spcAft>
                <a:spcPts val="400"/>
              </a:spcAft>
            </a:pPr>
            <a:r>
              <a:rPr sz="1000" b="1" i="0">
                <a:solidFill>
                  <a:srgbClr val="42DAE6"/>
                </a:solidFill>
                <a:latin typeface="Aptos"/>
              </a:rPr>
              <a:t>CO 4  /  MODULE 4</a:t>
            </a:r>
            <a:endParaRPr sz="1000" b="1" i="0">
              <a:solidFill>
                <a:srgbClr val="42DAE6"/>
              </a:solidFill>
              <a:latin typeface="Aptos"/>
            </a:endParaRPr>
          </a:p>
        </p:txBody>
      </p:sp>
      <p:sp>
        <p:nvSpPr>
          <p:cNvPr id="4" name="TextBox 3"/>
          <p:cNvSpPr txBox="1"/>
          <p:nvPr/>
        </p:nvSpPr>
        <p:spPr>
          <a:xfrm>
            <a:off x="594360" y="841248"/>
            <a:ext cx="10972800" cy="530352"/>
          </a:xfrm>
          <a:prstGeom prst="rect">
            <a:avLst/>
          </a:prstGeom>
          <a:noFill/>
        </p:spPr>
        <p:txBody>
          <a:bodyPr wrap="square" lIns="36576" tIns="36576" rIns="36576" bIns="36576" anchor="t">
            <a:spAutoFit/>
          </a:bodyPr>
          <a:lstStyle/>
          <a:p>
            <a:pPr algn="l">
              <a:spcAft>
                <a:spcPts val="400"/>
              </a:spcAft>
            </a:pPr>
            <a:r>
              <a:rPr sz="2900" b="1" i="0">
                <a:solidFill>
                  <a:srgbClr val="F2F7FF"/>
                </a:solidFill>
                <a:latin typeface="Aptos"/>
              </a:rPr>
              <a:t>CO 4  |  OOP Modelling &amp; Exception Handling</a:t>
            </a:r>
            <a:endParaRPr sz="2900" b="1" i="0">
              <a:solidFill>
                <a:srgbClr val="F2F7FF"/>
              </a:solidFill>
              <a:latin typeface="Aptos"/>
            </a:endParaRPr>
          </a:p>
        </p:txBody>
      </p:sp>
      <p:sp>
        <p:nvSpPr>
          <p:cNvPr id="5" name="TextBox 4"/>
          <p:cNvSpPr txBox="1"/>
          <p:nvPr/>
        </p:nvSpPr>
        <p:spPr>
          <a:xfrm>
            <a:off x="621792" y="1399032"/>
            <a:ext cx="10881360" cy="384048"/>
          </a:xfrm>
          <a:prstGeom prst="rect">
            <a:avLst/>
          </a:prstGeom>
          <a:noFill/>
        </p:spPr>
        <p:txBody>
          <a:bodyPr wrap="square" lIns="36576" tIns="36576" rIns="36576" bIns="36576" anchor="t">
            <a:spAutoFit/>
          </a:bodyPr>
          <a:lstStyle/>
          <a:p>
            <a:pPr algn="l">
              <a:spcAft>
                <a:spcPts val="400"/>
              </a:spcAft>
            </a:pPr>
            <a:r>
              <a:rPr sz="1200" b="0" i="0">
                <a:solidFill>
                  <a:srgbClr val="B4C5DD"/>
                </a:solidFill>
                <a:latin typeface="Aptos"/>
              </a:rPr>
              <a:t>Object-Oriented Modelling, Design &amp; Exception Handling</a:t>
            </a:r>
            <a:endParaRPr sz="1200" b="0" i="0">
              <a:solidFill>
                <a:srgbClr val="B4C5DD"/>
              </a:solidFill>
              <a:latin typeface="Aptos"/>
            </a:endParaRPr>
          </a:p>
        </p:txBody>
      </p:sp>
      <p:sp>
        <p:nvSpPr>
          <p:cNvPr id="6" name="Rectangle 5"/>
          <p:cNvSpPr/>
          <p:nvPr/>
        </p:nvSpPr>
        <p:spPr>
          <a:xfrm>
            <a:off x="594360" y="6455664"/>
            <a:ext cx="10972800" cy="10972"/>
          </a:xfrm>
          <a:prstGeom prst="rect">
            <a:avLst/>
          </a:prstGeom>
          <a:solidFill>
            <a:srgbClr val="1934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64240" y="6492240"/>
            <a:ext cx="457200" cy="182880"/>
          </a:xfrm>
          <a:prstGeom prst="rect">
            <a:avLst/>
          </a:prstGeom>
          <a:noFill/>
        </p:spPr>
        <p:txBody>
          <a:bodyPr wrap="square" lIns="36576" tIns="36576" rIns="36576" bIns="36576" anchor="t">
            <a:spAutoFit/>
          </a:bodyPr>
          <a:lstStyle/>
          <a:p>
            <a:pPr algn="r">
              <a:spcAft>
                <a:spcPts val="400"/>
              </a:spcAft>
            </a:pPr>
            <a:r>
              <a:rPr sz="900" b="1" i="0">
                <a:solidFill>
                  <a:srgbClr val="B4C5DD"/>
                </a:solidFill>
                <a:latin typeface="Aptos"/>
              </a:rPr>
              <a:t>07</a:t>
            </a:r>
            <a:endParaRPr sz="900" b="1" i="0">
              <a:solidFill>
                <a:srgbClr val="B4C5DD"/>
              </a:solidFill>
              <a:latin typeface="Aptos"/>
            </a:endParaRPr>
          </a:p>
        </p:txBody>
      </p:sp>
      <p:sp>
        <p:nvSpPr>
          <p:cNvPr id="8" name="Rounded Rectangle 7"/>
          <p:cNvSpPr/>
          <p:nvPr/>
        </p:nvSpPr>
        <p:spPr>
          <a:xfrm>
            <a:off x="621792" y="1938528"/>
            <a:ext cx="3063240" cy="438912"/>
          </a:xfrm>
          <a:prstGeom prst="roundRect">
            <a:avLst>
              <a:gd name="adj" fmla="val 12000"/>
            </a:avLst>
          </a:prstGeom>
          <a:solidFill>
            <a:srgbClr val="1650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822191" y="1938528"/>
            <a:ext cx="7726679" cy="438912"/>
          </a:xfrm>
          <a:prstGeom prst="roundRect">
            <a:avLst>
              <a:gd name="adj" fmla="val 12000"/>
            </a:avLst>
          </a:prstGeom>
          <a:solidFill>
            <a:srgbClr val="1650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2020824"/>
            <a:ext cx="2697480" cy="228600"/>
          </a:xfrm>
          <a:prstGeom prst="rect">
            <a:avLst/>
          </a:prstGeom>
          <a:noFill/>
        </p:spPr>
        <p:txBody>
          <a:bodyPr wrap="square" lIns="36576" tIns="36576" rIns="36576" bIns="36576" anchor="t">
            <a:spAutoFit/>
          </a:bodyPr>
          <a:lstStyle/>
          <a:p>
            <a:pPr algn="l">
              <a:spcAft>
                <a:spcPts val="400"/>
              </a:spcAft>
            </a:pPr>
            <a:r>
              <a:rPr sz="1100" b="1" i="0">
                <a:solidFill>
                  <a:srgbClr val="42DAE6"/>
                </a:solidFill>
                <a:latin typeface="Aptos"/>
              </a:rPr>
              <a:t>TOPIC USED</a:t>
            </a:r>
            <a:endParaRPr sz="1100" b="1" i="0">
              <a:solidFill>
                <a:srgbClr val="42DAE6"/>
              </a:solidFill>
              <a:latin typeface="Aptos"/>
            </a:endParaRPr>
          </a:p>
        </p:txBody>
      </p:sp>
      <p:sp>
        <p:nvSpPr>
          <p:cNvPr id="11" name="TextBox 10"/>
          <p:cNvSpPr txBox="1"/>
          <p:nvPr/>
        </p:nvSpPr>
        <p:spPr>
          <a:xfrm>
            <a:off x="4041648" y="2020824"/>
            <a:ext cx="7223760" cy="228600"/>
          </a:xfrm>
          <a:prstGeom prst="rect">
            <a:avLst/>
          </a:prstGeom>
          <a:noFill/>
        </p:spPr>
        <p:txBody>
          <a:bodyPr wrap="square" lIns="36576" tIns="36576" rIns="36576" bIns="36576" anchor="t">
            <a:spAutoFit/>
          </a:bodyPr>
          <a:lstStyle/>
          <a:p>
            <a:pPr algn="l">
              <a:spcAft>
                <a:spcPts val="400"/>
              </a:spcAft>
            </a:pPr>
            <a:r>
              <a:rPr sz="1100" b="1" i="0">
                <a:solidFill>
                  <a:srgbClr val="42DAE6"/>
                </a:solidFill>
                <a:latin typeface="Aptos"/>
              </a:rPr>
              <a:t>PURPOSE IN OUR CODE</a:t>
            </a:r>
            <a:endParaRPr sz="1100" b="1" i="0">
              <a:solidFill>
                <a:srgbClr val="42DAE6"/>
              </a:solidFill>
              <a:latin typeface="Aptos"/>
            </a:endParaRPr>
          </a:p>
        </p:txBody>
      </p:sp>
      <p:sp>
        <p:nvSpPr>
          <p:cNvPr id="12" name="Rounded Rectangle 11"/>
          <p:cNvSpPr/>
          <p:nvPr/>
        </p:nvSpPr>
        <p:spPr>
          <a:xfrm>
            <a:off x="621792" y="2496312"/>
            <a:ext cx="3063240" cy="571500"/>
          </a:xfrm>
          <a:prstGeom prst="roundRect">
            <a:avLst>
              <a:gd name="adj" fmla="val 12000"/>
            </a:avLst>
          </a:prstGeom>
          <a:solidFill>
            <a:srgbClr val="14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822191" y="2496312"/>
            <a:ext cx="7726679" cy="571500"/>
          </a:xfrm>
          <a:prstGeom prst="roundRect">
            <a:avLst>
              <a:gd name="adj" fmla="val 12000"/>
            </a:avLst>
          </a:prstGeom>
          <a:solidFill>
            <a:srgbClr val="14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 y="2496312"/>
            <a:ext cx="50292" cy="571500"/>
          </a:xfrm>
          <a:prstGeom prst="rect">
            <a:avLst/>
          </a:prstGeom>
          <a:solidFill>
            <a:srgbClr val="2ABE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95528" y="2569464"/>
            <a:ext cx="2697480" cy="461772"/>
          </a:xfrm>
          <a:prstGeom prst="rect">
            <a:avLst/>
          </a:prstGeom>
          <a:noFill/>
        </p:spPr>
        <p:txBody>
          <a:bodyPr wrap="square" lIns="36576" tIns="36576" rIns="36576" bIns="36576" anchor="ctr">
            <a:spAutoFit/>
          </a:bodyPr>
          <a:lstStyle/>
          <a:p>
            <a:pPr algn="l">
              <a:spcAft>
                <a:spcPts val="400"/>
              </a:spcAft>
            </a:pPr>
            <a:r>
              <a:rPr sz="1300" b="1" i="0">
                <a:solidFill>
                  <a:srgbClr val="F2F7FF"/>
                </a:solidFill>
                <a:latin typeface="Aptos"/>
              </a:rPr>
              <a:t>Classes &amp; objects</a:t>
            </a:r>
            <a:endParaRPr sz="1300" b="1" i="0">
              <a:solidFill>
                <a:srgbClr val="F2F7FF"/>
              </a:solidFill>
              <a:latin typeface="Aptos"/>
            </a:endParaRPr>
          </a:p>
        </p:txBody>
      </p:sp>
      <p:sp>
        <p:nvSpPr>
          <p:cNvPr id="16" name="TextBox 15"/>
          <p:cNvSpPr txBox="1"/>
          <p:nvPr/>
        </p:nvSpPr>
        <p:spPr>
          <a:xfrm>
            <a:off x="4041648" y="2551176"/>
            <a:ext cx="7269480" cy="480060"/>
          </a:xfrm>
          <a:prstGeom prst="rect">
            <a:avLst/>
          </a:prstGeom>
          <a:noFill/>
        </p:spPr>
        <p:txBody>
          <a:bodyPr wrap="square" lIns="36576" tIns="36576" rIns="36576" bIns="36576" anchor="ctr">
            <a:spAutoFit/>
          </a:bodyPr>
          <a:lstStyle/>
          <a:p>
            <a:pPr algn="l">
              <a:spcAft>
                <a:spcPts val="400"/>
              </a:spcAft>
            </a:pPr>
            <a:r>
              <a:rPr sz="1200" b="0" i="0">
                <a:solidFill>
                  <a:srgbClr val="F2F7FF"/>
                </a:solidFill>
                <a:latin typeface="Aptos"/>
              </a:rPr>
              <a:t>MenuItem, OrderItem, RestaurantOrder, and the main system model menu entries and customer orders.</a:t>
            </a:r>
            <a:endParaRPr sz="1200" b="0" i="0">
              <a:solidFill>
                <a:srgbClr val="F2F7FF"/>
              </a:solidFill>
              <a:latin typeface="Aptos"/>
            </a:endParaRPr>
          </a:p>
        </p:txBody>
      </p:sp>
      <p:sp>
        <p:nvSpPr>
          <p:cNvPr id="17" name="Rounded Rectangle 16"/>
          <p:cNvSpPr/>
          <p:nvPr/>
        </p:nvSpPr>
        <p:spPr>
          <a:xfrm>
            <a:off x="621792" y="3159252"/>
            <a:ext cx="3063240" cy="571500"/>
          </a:xfrm>
          <a:prstGeom prst="roundRect">
            <a:avLst>
              <a:gd name="adj" fmla="val 12000"/>
            </a:avLst>
          </a:prstGeom>
          <a:solidFill>
            <a:srgbClr val="14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822191" y="3159252"/>
            <a:ext cx="7726679" cy="571500"/>
          </a:xfrm>
          <a:prstGeom prst="roundRect">
            <a:avLst>
              <a:gd name="adj" fmla="val 12000"/>
            </a:avLst>
          </a:prstGeom>
          <a:solidFill>
            <a:srgbClr val="14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 y="3159252"/>
            <a:ext cx="50292" cy="571500"/>
          </a:xfrm>
          <a:prstGeom prst="rect">
            <a:avLst/>
          </a:prstGeom>
          <a:solidFill>
            <a:srgbClr val="42DA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5528" y="3232404"/>
            <a:ext cx="2697480" cy="461772"/>
          </a:xfrm>
          <a:prstGeom prst="rect">
            <a:avLst/>
          </a:prstGeom>
          <a:noFill/>
        </p:spPr>
        <p:txBody>
          <a:bodyPr wrap="square" lIns="36576" tIns="36576" rIns="36576" bIns="36576" anchor="ctr">
            <a:spAutoFit/>
          </a:bodyPr>
          <a:lstStyle/>
          <a:p>
            <a:pPr algn="l">
              <a:spcAft>
                <a:spcPts val="400"/>
              </a:spcAft>
            </a:pPr>
            <a:r>
              <a:rPr sz="1300" b="1" i="0">
                <a:solidFill>
                  <a:srgbClr val="F2F7FF"/>
                </a:solidFill>
                <a:latin typeface="Aptos"/>
              </a:rPr>
              <a:t>Constructors &amp; overloading</a:t>
            </a:r>
            <a:endParaRPr sz="1300" b="1" i="0">
              <a:solidFill>
                <a:srgbClr val="F2F7FF"/>
              </a:solidFill>
              <a:latin typeface="Aptos"/>
            </a:endParaRPr>
          </a:p>
        </p:txBody>
      </p:sp>
      <p:sp>
        <p:nvSpPr>
          <p:cNvPr id="21" name="TextBox 20"/>
          <p:cNvSpPr txBox="1"/>
          <p:nvPr/>
        </p:nvSpPr>
        <p:spPr>
          <a:xfrm>
            <a:off x="4041648" y="3214116"/>
            <a:ext cx="7269480" cy="480060"/>
          </a:xfrm>
          <a:prstGeom prst="rect">
            <a:avLst/>
          </a:prstGeom>
          <a:noFill/>
        </p:spPr>
        <p:txBody>
          <a:bodyPr wrap="square" lIns="36576" tIns="36576" rIns="36576" bIns="36576" anchor="ctr">
            <a:spAutoFit/>
          </a:bodyPr>
          <a:lstStyle/>
          <a:p>
            <a:pPr algn="l">
              <a:spcAft>
                <a:spcPts val="400"/>
              </a:spcAft>
            </a:pPr>
            <a:r>
              <a:rPr sz="1200" b="0" i="0">
                <a:solidFill>
                  <a:srgbClr val="F2F7FF"/>
                </a:solidFill>
                <a:latin typeface="Aptos"/>
              </a:rPr>
              <a:t>Initialize objects; MenuItem has constructors with and without a category code.</a:t>
            </a:r>
            <a:endParaRPr sz="1200" b="0" i="0">
              <a:solidFill>
                <a:srgbClr val="F2F7FF"/>
              </a:solidFill>
              <a:latin typeface="Aptos"/>
            </a:endParaRPr>
          </a:p>
        </p:txBody>
      </p:sp>
      <p:sp>
        <p:nvSpPr>
          <p:cNvPr id="22" name="Rounded Rectangle 21"/>
          <p:cNvSpPr/>
          <p:nvPr/>
        </p:nvSpPr>
        <p:spPr>
          <a:xfrm>
            <a:off x="621792" y="3822191"/>
            <a:ext cx="3063240" cy="571500"/>
          </a:xfrm>
          <a:prstGeom prst="roundRect">
            <a:avLst>
              <a:gd name="adj" fmla="val 12000"/>
            </a:avLst>
          </a:prstGeom>
          <a:solidFill>
            <a:srgbClr val="14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3822191" y="3822191"/>
            <a:ext cx="7726679" cy="571500"/>
          </a:xfrm>
          <a:prstGeom prst="roundRect">
            <a:avLst>
              <a:gd name="adj" fmla="val 12000"/>
            </a:avLst>
          </a:prstGeom>
          <a:solidFill>
            <a:srgbClr val="14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 y="3822191"/>
            <a:ext cx="50292" cy="571500"/>
          </a:xfrm>
          <a:prstGeom prst="rect">
            <a:avLst/>
          </a:prstGeom>
          <a:solidFill>
            <a:srgbClr val="2ABE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5528" y="3895344"/>
            <a:ext cx="2697480" cy="461772"/>
          </a:xfrm>
          <a:prstGeom prst="rect">
            <a:avLst/>
          </a:prstGeom>
          <a:noFill/>
        </p:spPr>
        <p:txBody>
          <a:bodyPr wrap="square" lIns="36576" tIns="36576" rIns="36576" bIns="36576" anchor="ctr">
            <a:spAutoFit/>
          </a:bodyPr>
          <a:lstStyle/>
          <a:p>
            <a:pPr algn="l">
              <a:spcAft>
                <a:spcPts val="400"/>
              </a:spcAft>
            </a:pPr>
            <a:r>
              <a:rPr sz="1300" b="1" i="0">
                <a:solidFill>
                  <a:srgbClr val="F2F7FF"/>
                </a:solidFill>
                <a:latin typeface="Aptos"/>
              </a:rPr>
              <a:t>Encapsulation &amp; accessors</a:t>
            </a:r>
            <a:endParaRPr sz="1300" b="1" i="0">
              <a:solidFill>
                <a:srgbClr val="F2F7FF"/>
              </a:solidFill>
              <a:latin typeface="Aptos"/>
            </a:endParaRPr>
          </a:p>
        </p:txBody>
      </p:sp>
      <p:sp>
        <p:nvSpPr>
          <p:cNvPr id="26" name="TextBox 25"/>
          <p:cNvSpPr txBox="1"/>
          <p:nvPr/>
        </p:nvSpPr>
        <p:spPr>
          <a:xfrm>
            <a:off x="4041648" y="3877055"/>
            <a:ext cx="7269480" cy="480060"/>
          </a:xfrm>
          <a:prstGeom prst="rect">
            <a:avLst/>
          </a:prstGeom>
          <a:noFill/>
        </p:spPr>
        <p:txBody>
          <a:bodyPr wrap="square" lIns="36576" tIns="36576" rIns="36576" bIns="36576" anchor="ctr">
            <a:spAutoFit/>
          </a:bodyPr>
          <a:lstStyle/>
          <a:p>
            <a:pPr algn="l">
              <a:spcAft>
                <a:spcPts val="400"/>
              </a:spcAft>
            </a:pPr>
            <a:r>
              <a:rPr sz="1200" b="0" i="0">
                <a:solidFill>
                  <a:srgbClr val="F2F7FF"/>
                </a:solidFill>
                <a:latin typeface="Aptos"/>
              </a:rPr>
              <a:t>Private fields hold item data; getter methods provide controlled access to values.</a:t>
            </a:r>
            <a:endParaRPr sz="1200" b="0" i="0">
              <a:solidFill>
                <a:srgbClr val="F2F7FF"/>
              </a:solidFill>
              <a:latin typeface="Aptos"/>
            </a:endParaRPr>
          </a:p>
        </p:txBody>
      </p:sp>
      <p:sp>
        <p:nvSpPr>
          <p:cNvPr id="27" name="Rounded Rectangle 26"/>
          <p:cNvSpPr/>
          <p:nvPr/>
        </p:nvSpPr>
        <p:spPr>
          <a:xfrm>
            <a:off x="621792" y="4485131"/>
            <a:ext cx="3063240" cy="571500"/>
          </a:xfrm>
          <a:prstGeom prst="roundRect">
            <a:avLst>
              <a:gd name="adj" fmla="val 12000"/>
            </a:avLst>
          </a:prstGeom>
          <a:solidFill>
            <a:srgbClr val="14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3822191" y="4485131"/>
            <a:ext cx="7726679" cy="571500"/>
          </a:xfrm>
          <a:prstGeom prst="roundRect">
            <a:avLst>
              <a:gd name="adj" fmla="val 12000"/>
            </a:avLst>
          </a:prstGeom>
          <a:solidFill>
            <a:srgbClr val="14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1792" y="4485131"/>
            <a:ext cx="50292" cy="571500"/>
          </a:xfrm>
          <a:prstGeom prst="rect">
            <a:avLst/>
          </a:prstGeom>
          <a:solidFill>
            <a:srgbClr val="42DA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5528" y="4558283"/>
            <a:ext cx="2697480" cy="461772"/>
          </a:xfrm>
          <a:prstGeom prst="rect">
            <a:avLst/>
          </a:prstGeom>
          <a:noFill/>
        </p:spPr>
        <p:txBody>
          <a:bodyPr wrap="square" lIns="36576" tIns="36576" rIns="36576" bIns="36576" anchor="ctr">
            <a:spAutoFit/>
          </a:bodyPr>
          <a:lstStyle/>
          <a:p>
            <a:pPr algn="l">
              <a:spcAft>
                <a:spcPts val="400"/>
              </a:spcAft>
            </a:pPr>
            <a:r>
              <a:rPr sz="1300" b="1" i="0">
                <a:solidFill>
                  <a:srgbClr val="F2F7FF"/>
                </a:solidFill>
                <a:latin typeface="Aptos"/>
              </a:rPr>
              <a:t>Inheritance &amp; abstract class</a:t>
            </a:r>
            <a:endParaRPr sz="1300" b="1" i="0">
              <a:solidFill>
                <a:srgbClr val="F2F7FF"/>
              </a:solidFill>
              <a:latin typeface="Aptos"/>
            </a:endParaRPr>
          </a:p>
        </p:txBody>
      </p:sp>
      <p:sp>
        <p:nvSpPr>
          <p:cNvPr id="31" name="TextBox 30"/>
          <p:cNvSpPr txBox="1"/>
          <p:nvPr/>
        </p:nvSpPr>
        <p:spPr>
          <a:xfrm>
            <a:off x="4041648" y="4539995"/>
            <a:ext cx="7269480" cy="480060"/>
          </a:xfrm>
          <a:prstGeom prst="rect">
            <a:avLst/>
          </a:prstGeom>
          <a:noFill/>
        </p:spPr>
        <p:txBody>
          <a:bodyPr wrap="square" lIns="36576" tIns="36576" rIns="36576" bIns="36576" anchor="ctr">
            <a:spAutoFit/>
          </a:bodyPr>
          <a:lstStyle/>
          <a:p>
            <a:pPr algn="l">
              <a:spcAft>
                <a:spcPts val="400"/>
              </a:spcAft>
            </a:pPr>
            <a:r>
              <a:rPr sz="1200" b="0" i="0">
                <a:solidFill>
                  <a:srgbClr val="F2F7FF"/>
                </a:solidFill>
                <a:latin typeface="Aptos"/>
              </a:rPr>
              <a:t>OrderItem extends MenuItem; RestaurantOrder extends OrderBase and implements its billing behaviour.</a:t>
            </a:r>
            <a:endParaRPr sz="1200" b="0" i="0">
              <a:solidFill>
                <a:srgbClr val="F2F7FF"/>
              </a:solidFill>
              <a:latin typeface="Aptos"/>
            </a:endParaRPr>
          </a:p>
        </p:txBody>
      </p:sp>
      <p:sp>
        <p:nvSpPr>
          <p:cNvPr id="32" name="Rounded Rectangle 31"/>
          <p:cNvSpPr/>
          <p:nvPr/>
        </p:nvSpPr>
        <p:spPr>
          <a:xfrm>
            <a:off x="621792" y="5148072"/>
            <a:ext cx="3063240" cy="571500"/>
          </a:xfrm>
          <a:prstGeom prst="roundRect">
            <a:avLst>
              <a:gd name="adj" fmla="val 12000"/>
            </a:avLst>
          </a:prstGeom>
          <a:solidFill>
            <a:srgbClr val="14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3822191" y="5148072"/>
            <a:ext cx="7726679" cy="571500"/>
          </a:xfrm>
          <a:prstGeom prst="roundRect">
            <a:avLst>
              <a:gd name="adj" fmla="val 12000"/>
            </a:avLst>
          </a:prstGeom>
          <a:solidFill>
            <a:srgbClr val="14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21792" y="5148072"/>
            <a:ext cx="50292" cy="571500"/>
          </a:xfrm>
          <a:prstGeom prst="rect">
            <a:avLst/>
          </a:prstGeom>
          <a:solidFill>
            <a:srgbClr val="2ABE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5528" y="5221224"/>
            <a:ext cx="2697480" cy="461772"/>
          </a:xfrm>
          <a:prstGeom prst="rect">
            <a:avLst/>
          </a:prstGeom>
          <a:noFill/>
        </p:spPr>
        <p:txBody>
          <a:bodyPr wrap="square" lIns="36576" tIns="36576" rIns="36576" bIns="36576" anchor="ctr">
            <a:spAutoFit/>
          </a:bodyPr>
          <a:lstStyle/>
          <a:p>
            <a:pPr algn="l">
              <a:spcAft>
                <a:spcPts val="400"/>
              </a:spcAft>
            </a:pPr>
            <a:r>
              <a:rPr sz="1300" b="1" i="0">
                <a:solidFill>
                  <a:srgbClr val="F2F7FF"/>
                </a:solidFill>
                <a:latin typeface="Aptos"/>
              </a:rPr>
              <a:t>Interfaces &amp; overriding</a:t>
            </a:r>
            <a:endParaRPr sz="1300" b="1" i="0">
              <a:solidFill>
                <a:srgbClr val="F2F7FF"/>
              </a:solidFill>
              <a:latin typeface="Aptos"/>
            </a:endParaRPr>
          </a:p>
        </p:txBody>
      </p:sp>
      <p:sp>
        <p:nvSpPr>
          <p:cNvPr id="36" name="TextBox 35"/>
          <p:cNvSpPr txBox="1"/>
          <p:nvPr/>
        </p:nvSpPr>
        <p:spPr>
          <a:xfrm>
            <a:off x="4041648" y="5202936"/>
            <a:ext cx="7269480" cy="480060"/>
          </a:xfrm>
          <a:prstGeom prst="rect">
            <a:avLst/>
          </a:prstGeom>
          <a:noFill/>
        </p:spPr>
        <p:txBody>
          <a:bodyPr wrap="square" lIns="36576" tIns="36576" rIns="36576" bIns="36576" anchor="ctr">
            <a:spAutoFit/>
          </a:bodyPr>
          <a:lstStyle/>
          <a:p>
            <a:pPr algn="l">
              <a:spcAft>
                <a:spcPts val="400"/>
              </a:spcAft>
            </a:pPr>
            <a:r>
              <a:rPr sz="1200" b="0" i="0">
                <a:solidFill>
                  <a:srgbClr val="F2F7FF"/>
                </a:solidFill>
                <a:latin typeface="Aptos"/>
              </a:rPr>
              <a:t>Billable defines billing; Comparable supports price ordering; overridden methods customize behaviour.</a:t>
            </a:r>
            <a:endParaRPr sz="1200" b="0" i="0">
              <a:solidFill>
                <a:srgbClr val="F2F7FF"/>
              </a:solidFill>
              <a:latin typeface="Aptos"/>
            </a:endParaRPr>
          </a:p>
        </p:txBody>
      </p:sp>
      <p:sp>
        <p:nvSpPr>
          <p:cNvPr id="37" name="Rounded Rectangle 36"/>
          <p:cNvSpPr/>
          <p:nvPr/>
        </p:nvSpPr>
        <p:spPr>
          <a:xfrm>
            <a:off x="621792" y="5811012"/>
            <a:ext cx="3063240" cy="571500"/>
          </a:xfrm>
          <a:prstGeom prst="roundRect">
            <a:avLst>
              <a:gd name="adj" fmla="val 12000"/>
            </a:avLst>
          </a:prstGeom>
          <a:solidFill>
            <a:srgbClr val="14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3822191" y="5811012"/>
            <a:ext cx="7726679" cy="571500"/>
          </a:xfrm>
          <a:prstGeom prst="roundRect">
            <a:avLst>
              <a:gd name="adj" fmla="val 12000"/>
            </a:avLst>
          </a:prstGeom>
          <a:solidFill>
            <a:srgbClr val="14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21792" y="5811012"/>
            <a:ext cx="50292" cy="571500"/>
          </a:xfrm>
          <a:prstGeom prst="rect">
            <a:avLst/>
          </a:prstGeom>
          <a:solidFill>
            <a:srgbClr val="42DA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95528" y="5884164"/>
            <a:ext cx="2697480" cy="461772"/>
          </a:xfrm>
          <a:prstGeom prst="rect">
            <a:avLst/>
          </a:prstGeom>
          <a:noFill/>
        </p:spPr>
        <p:txBody>
          <a:bodyPr wrap="square" lIns="36576" tIns="36576" rIns="36576" bIns="36576" anchor="ctr">
            <a:spAutoFit/>
          </a:bodyPr>
          <a:lstStyle/>
          <a:p>
            <a:pPr algn="l">
              <a:spcAft>
                <a:spcPts val="400"/>
              </a:spcAft>
            </a:pPr>
            <a:r>
              <a:rPr sz="1300" b="1" i="0">
                <a:solidFill>
                  <a:srgbClr val="F2F7FF"/>
                </a:solidFill>
                <a:latin typeface="Aptos"/>
              </a:rPr>
              <a:t>Exceptions &amp; try-with-resources</a:t>
            </a:r>
            <a:endParaRPr sz="1300" b="1" i="0">
              <a:solidFill>
                <a:srgbClr val="F2F7FF"/>
              </a:solidFill>
              <a:latin typeface="Aptos"/>
            </a:endParaRPr>
          </a:p>
        </p:txBody>
      </p:sp>
      <p:sp>
        <p:nvSpPr>
          <p:cNvPr id="41" name="TextBox 40"/>
          <p:cNvSpPr txBox="1"/>
          <p:nvPr/>
        </p:nvSpPr>
        <p:spPr>
          <a:xfrm>
            <a:off x="4041648" y="5865876"/>
            <a:ext cx="7269480" cy="480060"/>
          </a:xfrm>
          <a:prstGeom prst="rect">
            <a:avLst/>
          </a:prstGeom>
          <a:noFill/>
        </p:spPr>
        <p:txBody>
          <a:bodyPr wrap="square" lIns="36576" tIns="36576" rIns="36576" bIns="36576" anchor="ctr">
            <a:spAutoFit/>
          </a:bodyPr>
          <a:lstStyle/>
          <a:p>
            <a:pPr algn="l">
              <a:spcAft>
                <a:spcPts val="400"/>
              </a:spcAft>
            </a:pPr>
            <a:r>
              <a:rPr sz="1200" b="0" i="0">
                <a:solidFill>
                  <a:srgbClr val="F2F7FF"/>
                </a:solidFill>
                <a:latin typeface="Aptos"/>
              </a:rPr>
              <a:t>Catch file I/O errors and automatically close the writer and file-line stream.</a:t>
            </a:r>
            <a:endParaRPr sz="1200" b="0" i="0">
              <a:solidFill>
                <a:srgbClr val="F2F7FF"/>
              </a:solidFill>
              <a:latin typeface="Aptos"/>
            </a:endParaRPr>
          </a:p>
        </p:txBody>
      </p:sp>
      <p:sp>
        <p:nvSpPr>
          <p:cNvPr id="43" name="Rectangle 42"/>
          <p:cNvSpPr/>
          <p:nvPr/>
        </p:nvSpPr>
        <p:spPr>
          <a:xfrm>
            <a:off x="164592" y="0"/>
            <a:ext cx="1234440" cy="365760"/>
          </a:xfrm>
          <a:prstGeom prst="rect">
            <a:avLst/>
          </a:prstGeom>
          <a:solidFill>
            <a:srgbClr val="081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8122B"/>
        </a:solidFill>
        <a:effectLst/>
      </p:bgPr>
    </p:bg>
    <p:spTree>
      <p:nvGrpSpPr>
        <p:cNvPr id="1" name=""/>
        <p:cNvGrpSpPr/>
        <p:nvPr/>
      </p:nvGrpSpPr>
      <p:grpSpPr>
        <a:xfrm>
          <a:off x="0" y="0"/>
          <a:ext cx="0" cy="0"/>
          <a:chOff x="0" y="0"/>
          <a:chExt cx="0" cy="0"/>
        </a:xfrm>
      </p:grpSpPr>
      <p:sp>
        <p:nvSpPr>
          <p:cNvPr id="2" name="Rectangle 1"/>
          <p:cNvSpPr/>
          <p:nvPr/>
        </p:nvSpPr>
        <p:spPr>
          <a:xfrm>
            <a:off x="594360" y="438912"/>
            <a:ext cx="91440" cy="384048"/>
          </a:xfrm>
          <a:prstGeom prst="rect">
            <a:avLst/>
          </a:prstGeom>
          <a:solidFill>
            <a:srgbClr val="42DA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04672" y="429768"/>
            <a:ext cx="2286000" cy="256032"/>
          </a:xfrm>
          <a:prstGeom prst="rect">
            <a:avLst/>
          </a:prstGeom>
          <a:noFill/>
        </p:spPr>
        <p:txBody>
          <a:bodyPr wrap="square" lIns="36576" tIns="36576" rIns="36576" bIns="36576" anchor="t">
            <a:spAutoFit/>
          </a:bodyPr>
          <a:lstStyle/>
          <a:p>
            <a:pPr algn="l">
              <a:spcAft>
                <a:spcPts val="400"/>
              </a:spcAft>
            </a:pPr>
            <a:r>
              <a:rPr sz="1000" b="1" i="0">
                <a:solidFill>
                  <a:srgbClr val="42DAE6"/>
                </a:solidFill>
                <a:latin typeface="Aptos"/>
              </a:rPr>
              <a:t>CO 5  /  MODULE 5</a:t>
            </a:r>
            <a:endParaRPr sz="1000" b="1" i="0">
              <a:solidFill>
                <a:srgbClr val="42DAE6"/>
              </a:solidFill>
              <a:latin typeface="Aptos"/>
            </a:endParaRPr>
          </a:p>
        </p:txBody>
      </p:sp>
      <p:sp>
        <p:nvSpPr>
          <p:cNvPr id="4" name="TextBox 3"/>
          <p:cNvSpPr txBox="1"/>
          <p:nvPr/>
        </p:nvSpPr>
        <p:spPr>
          <a:xfrm>
            <a:off x="594360" y="841248"/>
            <a:ext cx="10972800" cy="530352"/>
          </a:xfrm>
          <a:prstGeom prst="rect">
            <a:avLst/>
          </a:prstGeom>
          <a:noFill/>
        </p:spPr>
        <p:txBody>
          <a:bodyPr wrap="square" lIns="36576" tIns="36576" rIns="36576" bIns="36576" anchor="t">
            <a:spAutoFit/>
          </a:bodyPr>
          <a:lstStyle/>
          <a:p>
            <a:pPr algn="l">
              <a:spcAft>
                <a:spcPts val="400"/>
              </a:spcAft>
            </a:pPr>
            <a:r>
              <a:rPr sz="2900" b="1" i="0">
                <a:solidFill>
                  <a:srgbClr val="F2F7FF"/>
                </a:solidFill>
                <a:latin typeface="Aptos"/>
              </a:rPr>
              <a:t>CO 5  |  Strings, Algorithms &amp; File I/O</a:t>
            </a:r>
            <a:endParaRPr sz="2900" b="1" i="0">
              <a:solidFill>
                <a:srgbClr val="F2F7FF"/>
              </a:solidFill>
              <a:latin typeface="Aptos"/>
            </a:endParaRPr>
          </a:p>
        </p:txBody>
      </p:sp>
      <p:sp>
        <p:nvSpPr>
          <p:cNvPr id="5" name="TextBox 4"/>
          <p:cNvSpPr txBox="1"/>
          <p:nvPr/>
        </p:nvSpPr>
        <p:spPr>
          <a:xfrm>
            <a:off x="621792" y="1399032"/>
            <a:ext cx="10881360" cy="384048"/>
          </a:xfrm>
          <a:prstGeom prst="rect">
            <a:avLst/>
          </a:prstGeom>
          <a:noFill/>
        </p:spPr>
        <p:txBody>
          <a:bodyPr wrap="square" lIns="36576" tIns="36576" rIns="36576" bIns="36576" anchor="t">
            <a:spAutoFit/>
          </a:bodyPr>
          <a:lstStyle/>
          <a:p>
            <a:pPr algn="l">
              <a:spcAft>
                <a:spcPts val="400"/>
              </a:spcAft>
            </a:pPr>
            <a:r>
              <a:rPr sz="1200" b="0" i="0">
                <a:solidFill>
                  <a:srgbClr val="B4C5DD"/>
                </a:solidFill>
                <a:latin typeface="Aptos"/>
              </a:rPr>
              <a:t>Strings, Library Algorithms &amp; File I/O</a:t>
            </a:r>
            <a:endParaRPr sz="1200" b="0" i="0">
              <a:solidFill>
                <a:srgbClr val="B4C5DD"/>
              </a:solidFill>
              <a:latin typeface="Aptos"/>
            </a:endParaRPr>
          </a:p>
        </p:txBody>
      </p:sp>
      <p:sp>
        <p:nvSpPr>
          <p:cNvPr id="6" name="Rectangle 5"/>
          <p:cNvSpPr/>
          <p:nvPr/>
        </p:nvSpPr>
        <p:spPr>
          <a:xfrm>
            <a:off x="594360" y="6455664"/>
            <a:ext cx="10972800" cy="10972"/>
          </a:xfrm>
          <a:prstGeom prst="rect">
            <a:avLst/>
          </a:prstGeom>
          <a:solidFill>
            <a:srgbClr val="1934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64240" y="6492240"/>
            <a:ext cx="457200" cy="182880"/>
          </a:xfrm>
          <a:prstGeom prst="rect">
            <a:avLst/>
          </a:prstGeom>
          <a:noFill/>
        </p:spPr>
        <p:txBody>
          <a:bodyPr wrap="square" lIns="36576" tIns="36576" rIns="36576" bIns="36576" anchor="t">
            <a:spAutoFit/>
          </a:bodyPr>
          <a:lstStyle/>
          <a:p>
            <a:pPr algn="r">
              <a:spcAft>
                <a:spcPts val="400"/>
              </a:spcAft>
            </a:pPr>
            <a:r>
              <a:rPr sz="900" b="1" i="0">
                <a:solidFill>
                  <a:srgbClr val="B4C5DD"/>
                </a:solidFill>
                <a:latin typeface="Aptos"/>
              </a:rPr>
              <a:t>08</a:t>
            </a:r>
            <a:endParaRPr sz="900" b="1" i="0">
              <a:solidFill>
                <a:srgbClr val="B4C5DD"/>
              </a:solidFill>
              <a:latin typeface="Aptos"/>
            </a:endParaRPr>
          </a:p>
        </p:txBody>
      </p:sp>
      <p:sp>
        <p:nvSpPr>
          <p:cNvPr id="8" name="Rounded Rectangle 7"/>
          <p:cNvSpPr/>
          <p:nvPr/>
        </p:nvSpPr>
        <p:spPr>
          <a:xfrm>
            <a:off x="621792" y="1938528"/>
            <a:ext cx="3063240" cy="438912"/>
          </a:xfrm>
          <a:prstGeom prst="roundRect">
            <a:avLst>
              <a:gd name="adj" fmla="val 12000"/>
            </a:avLst>
          </a:prstGeom>
          <a:solidFill>
            <a:srgbClr val="1650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822191" y="1938528"/>
            <a:ext cx="7726679" cy="438912"/>
          </a:xfrm>
          <a:prstGeom prst="roundRect">
            <a:avLst>
              <a:gd name="adj" fmla="val 12000"/>
            </a:avLst>
          </a:prstGeom>
          <a:solidFill>
            <a:srgbClr val="1650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2020824"/>
            <a:ext cx="2697480" cy="228600"/>
          </a:xfrm>
          <a:prstGeom prst="rect">
            <a:avLst/>
          </a:prstGeom>
          <a:noFill/>
        </p:spPr>
        <p:txBody>
          <a:bodyPr wrap="square" lIns="36576" tIns="36576" rIns="36576" bIns="36576" anchor="t">
            <a:spAutoFit/>
          </a:bodyPr>
          <a:lstStyle/>
          <a:p>
            <a:pPr algn="l">
              <a:spcAft>
                <a:spcPts val="400"/>
              </a:spcAft>
            </a:pPr>
            <a:r>
              <a:rPr sz="1100" b="1" i="0">
                <a:solidFill>
                  <a:srgbClr val="42DAE6"/>
                </a:solidFill>
                <a:latin typeface="Aptos"/>
              </a:rPr>
              <a:t>TOPIC USED</a:t>
            </a:r>
            <a:endParaRPr sz="1100" b="1" i="0">
              <a:solidFill>
                <a:srgbClr val="42DAE6"/>
              </a:solidFill>
              <a:latin typeface="Aptos"/>
            </a:endParaRPr>
          </a:p>
        </p:txBody>
      </p:sp>
      <p:sp>
        <p:nvSpPr>
          <p:cNvPr id="11" name="TextBox 10"/>
          <p:cNvSpPr txBox="1"/>
          <p:nvPr/>
        </p:nvSpPr>
        <p:spPr>
          <a:xfrm>
            <a:off x="4041648" y="2020824"/>
            <a:ext cx="7223760" cy="228600"/>
          </a:xfrm>
          <a:prstGeom prst="rect">
            <a:avLst/>
          </a:prstGeom>
          <a:noFill/>
        </p:spPr>
        <p:txBody>
          <a:bodyPr wrap="square" lIns="36576" tIns="36576" rIns="36576" bIns="36576" anchor="t">
            <a:spAutoFit/>
          </a:bodyPr>
          <a:lstStyle/>
          <a:p>
            <a:pPr algn="l">
              <a:spcAft>
                <a:spcPts val="400"/>
              </a:spcAft>
            </a:pPr>
            <a:r>
              <a:rPr sz="1100" b="1" i="0">
                <a:solidFill>
                  <a:srgbClr val="42DAE6"/>
                </a:solidFill>
                <a:latin typeface="Aptos"/>
              </a:rPr>
              <a:t>PURPOSE IN OUR CODE</a:t>
            </a:r>
            <a:endParaRPr sz="1100" b="1" i="0">
              <a:solidFill>
                <a:srgbClr val="42DAE6"/>
              </a:solidFill>
              <a:latin typeface="Aptos"/>
            </a:endParaRPr>
          </a:p>
        </p:txBody>
      </p:sp>
      <p:sp>
        <p:nvSpPr>
          <p:cNvPr id="12" name="Rounded Rectangle 11"/>
          <p:cNvSpPr/>
          <p:nvPr/>
        </p:nvSpPr>
        <p:spPr>
          <a:xfrm>
            <a:off x="621792" y="2496312"/>
            <a:ext cx="3063240" cy="571500"/>
          </a:xfrm>
          <a:prstGeom prst="roundRect">
            <a:avLst>
              <a:gd name="adj" fmla="val 12000"/>
            </a:avLst>
          </a:prstGeom>
          <a:solidFill>
            <a:srgbClr val="14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822191" y="2496312"/>
            <a:ext cx="7726679" cy="571500"/>
          </a:xfrm>
          <a:prstGeom prst="roundRect">
            <a:avLst>
              <a:gd name="adj" fmla="val 12000"/>
            </a:avLst>
          </a:prstGeom>
          <a:solidFill>
            <a:srgbClr val="14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 y="2496312"/>
            <a:ext cx="50292" cy="571500"/>
          </a:xfrm>
          <a:prstGeom prst="rect">
            <a:avLst/>
          </a:prstGeom>
          <a:solidFill>
            <a:srgbClr val="2ABE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95528" y="2569464"/>
            <a:ext cx="2697480" cy="461772"/>
          </a:xfrm>
          <a:prstGeom prst="rect">
            <a:avLst/>
          </a:prstGeom>
          <a:noFill/>
        </p:spPr>
        <p:txBody>
          <a:bodyPr wrap="square" lIns="36576" tIns="36576" rIns="36576" bIns="36576" anchor="ctr">
            <a:spAutoFit/>
          </a:bodyPr>
          <a:lstStyle/>
          <a:p>
            <a:pPr algn="l">
              <a:spcAft>
                <a:spcPts val="400"/>
              </a:spcAft>
            </a:pPr>
            <a:r>
              <a:rPr sz="1300" b="1" i="0">
                <a:solidFill>
                  <a:srgbClr val="F2F7FF"/>
                </a:solidFill>
                <a:latin typeface="Aptos"/>
              </a:rPr>
              <a:t>String operations &amp; validation</a:t>
            </a:r>
            <a:endParaRPr sz="1300" b="1" i="0">
              <a:solidFill>
                <a:srgbClr val="F2F7FF"/>
              </a:solidFill>
              <a:latin typeface="Aptos"/>
            </a:endParaRPr>
          </a:p>
        </p:txBody>
      </p:sp>
      <p:sp>
        <p:nvSpPr>
          <p:cNvPr id="16" name="TextBox 15"/>
          <p:cNvSpPr txBox="1"/>
          <p:nvPr/>
        </p:nvSpPr>
        <p:spPr>
          <a:xfrm>
            <a:off x="4041648" y="2551176"/>
            <a:ext cx="7269480" cy="480060"/>
          </a:xfrm>
          <a:prstGeom prst="rect">
            <a:avLst/>
          </a:prstGeom>
          <a:noFill/>
        </p:spPr>
        <p:txBody>
          <a:bodyPr wrap="square" lIns="36576" tIns="36576" rIns="36576" bIns="36576" anchor="ctr">
            <a:spAutoFit/>
          </a:bodyPr>
          <a:lstStyle/>
          <a:p>
            <a:pPr algn="l">
              <a:spcAft>
                <a:spcPts val="400"/>
              </a:spcAft>
            </a:pPr>
            <a:r>
              <a:rPr sz="1200" b="0" i="0">
                <a:solidFill>
                  <a:srgbClr val="F2F7FF"/>
                </a:solidFill>
                <a:latin typeface="Aptos"/>
              </a:rPr>
              <a:t>Trim customer names and search text; handle blank names and compare item names ignoring case.</a:t>
            </a:r>
            <a:endParaRPr sz="1200" b="0" i="0">
              <a:solidFill>
                <a:srgbClr val="F2F7FF"/>
              </a:solidFill>
              <a:latin typeface="Aptos"/>
            </a:endParaRPr>
          </a:p>
        </p:txBody>
      </p:sp>
      <p:sp>
        <p:nvSpPr>
          <p:cNvPr id="17" name="Rounded Rectangle 16"/>
          <p:cNvSpPr/>
          <p:nvPr/>
        </p:nvSpPr>
        <p:spPr>
          <a:xfrm>
            <a:off x="621792" y="3159252"/>
            <a:ext cx="3063240" cy="571500"/>
          </a:xfrm>
          <a:prstGeom prst="roundRect">
            <a:avLst>
              <a:gd name="adj" fmla="val 12000"/>
            </a:avLst>
          </a:prstGeom>
          <a:solidFill>
            <a:srgbClr val="14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822191" y="3159252"/>
            <a:ext cx="7726679" cy="571500"/>
          </a:xfrm>
          <a:prstGeom prst="roundRect">
            <a:avLst>
              <a:gd name="adj" fmla="val 12000"/>
            </a:avLst>
          </a:prstGeom>
          <a:solidFill>
            <a:srgbClr val="14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 y="3159252"/>
            <a:ext cx="50292" cy="571500"/>
          </a:xfrm>
          <a:prstGeom prst="rect">
            <a:avLst/>
          </a:prstGeom>
          <a:solidFill>
            <a:srgbClr val="42DA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5528" y="3232404"/>
            <a:ext cx="2697480" cy="461772"/>
          </a:xfrm>
          <a:prstGeom prst="rect">
            <a:avLst/>
          </a:prstGeom>
          <a:noFill/>
        </p:spPr>
        <p:txBody>
          <a:bodyPr wrap="square" lIns="36576" tIns="36576" rIns="36576" bIns="36576" anchor="ctr">
            <a:spAutoFit/>
          </a:bodyPr>
          <a:lstStyle/>
          <a:p>
            <a:pPr algn="l">
              <a:spcAft>
                <a:spcPts val="400"/>
              </a:spcAft>
            </a:pPr>
            <a:r>
              <a:rPr sz="1300" b="1" i="0">
                <a:solidFill>
                  <a:srgbClr val="F2F7FF"/>
                </a:solidFill>
                <a:latin typeface="Aptos"/>
              </a:rPr>
              <a:t>Concatenation &amp; case conversion</a:t>
            </a:r>
            <a:endParaRPr sz="1300" b="1" i="0">
              <a:solidFill>
                <a:srgbClr val="F2F7FF"/>
              </a:solidFill>
              <a:latin typeface="Aptos"/>
            </a:endParaRPr>
          </a:p>
        </p:txBody>
      </p:sp>
      <p:sp>
        <p:nvSpPr>
          <p:cNvPr id="21" name="TextBox 20"/>
          <p:cNvSpPr txBox="1"/>
          <p:nvPr/>
        </p:nvSpPr>
        <p:spPr>
          <a:xfrm>
            <a:off x="4041648" y="3214116"/>
            <a:ext cx="7269480" cy="480060"/>
          </a:xfrm>
          <a:prstGeom prst="rect">
            <a:avLst/>
          </a:prstGeom>
          <a:noFill/>
        </p:spPr>
        <p:txBody>
          <a:bodyPr wrap="square" lIns="36576" tIns="36576" rIns="36576" bIns="36576" anchor="ctr">
            <a:spAutoFit/>
          </a:bodyPr>
          <a:lstStyle/>
          <a:p>
            <a:pPr algn="l">
              <a:spcAft>
                <a:spcPts val="400"/>
              </a:spcAft>
            </a:pPr>
            <a:r>
              <a:rPr sz="1200" b="0" i="0">
                <a:solidFill>
                  <a:srgbClr val="F2F7FF"/>
                </a:solidFill>
                <a:latin typeface="Aptos"/>
              </a:rPr>
              <a:t>Build order records and messages; convert menu names to uppercase in the stream demo.</a:t>
            </a:r>
            <a:endParaRPr sz="1200" b="0" i="0">
              <a:solidFill>
                <a:srgbClr val="F2F7FF"/>
              </a:solidFill>
              <a:latin typeface="Aptos"/>
            </a:endParaRPr>
          </a:p>
        </p:txBody>
      </p:sp>
      <p:sp>
        <p:nvSpPr>
          <p:cNvPr id="22" name="Rounded Rectangle 21"/>
          <p:cNvSpPr/>
          <p:nvPr/>
        </p:nvSpPr>
        <p:spPr>
          <a:xfrm>
            <a:off x="621792" y="3822191"/>
            <a:ext cx="3063240" cy="571500"/>
          </a:xfrm>
          <a:prstGeom prst="roundRect">
            <a:avLst>
              <a:gd name="adj" fmla="val 12000"/>
            </a:avLst>
          </a:prstGeom>
          <a:solidFill>
            <a:srgbClr val="14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3822191" y="3822191"/>
            <a:ext cx="7726679" cy="571500"/>
          </a:xfrm>
          <a:prstGeom prst="roundRect">
            <a:avLst>
              <a:gd name="adj" fmla="val 12000"/>
            </a:avLst>
          </a:prstGeom>
          <a:solidFill>
            <a:srgbClr val="14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 y="3822191"/>
            <a:ext cx="50292" cy="571500"/>
          </a:xfrm>
          <a:prstGeom prst="rect">
            <a:avLst/>
          </a:prstGeom>
          <a:solidFill>
            <a:srgbClr val="2ABE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5528" y="3895344"/>
            <a:ext cx="2697480" cy="461772"/>
          </a:xfrm>
          <a:prstGeom prst="rect">
            <a:avLst/>
          </a:prstGeom>
          <a:noFill/>
        </p:spPr>
        <p:txBody>
          <a:bodyPr wrap="square" lIns="36576" tIns="36576" rIns="36576" bIns="36576" anchor="ctr">
            <a:spAutoFit/>
          </a:bodyPr>
          <a:lstStyle/>
          <a:p>
            <a:pPr algn="l">
              <a:spcAft>
                <a:spcPts val="400"/>
              </a:spcAft>
            </a:pPr>
            <a:r>
              <a:rPr sz="1300" b="1" i="0">
                <a:solidFill>
                  <a:srgbClr val="F2F7FF"/>
                </a:solidFill>
                <a:latin typeface="Aptos"/>
              </a:rPr>
              <a:t>Searching &amp; sorting algorithms</a:t>
            </a:r>
            <a:endParaRPr sz="1300" b="1" i="0">
              <a:solidFill>
                <a:srgbClr val="F2F7FF"/>
              </a:solidFill>
              <a:latin typeface="Aptos"/>
            </a:endParaRPr>
          </a:p>
        </p:txBody>
      </p:sp>
      <p:sp>
        <p:nvSpPr>
          <p:cNvPr id="26" name="TextBox 25"/>
          <p:cNvSpPr txBox="1"/>
          <p:nvPr/>
        </p:nvSpPr>
        <p:spPr>
          <a:xfrm>
            <a:off x="4041648" y="3877055"/>
            <a:ext cx="7269480" cy="480060"/>
          </a:xfrm>
          <a:prstGeom prst="rect">
            <a:avLst/>
          </a:prstGeom>
          <a:noFill/>
        </p:spPr>
        <p:txBody>
          <a:bodyPr wrap="square" lIns="36576" tIns="36576" rIns="36576" bIns="36576" anchor="ctr">
            <a:spAutoFit/>
          </a:bodyPr>
          <a:lstStyle/>
          <a:p>
            <a:pPr algn="l">
              <a:spcAft>
                <a:spcPts val="400"/>
              </a:spcAft>
            </a:pPr>
            <a:r>
              <a:rPr sz="1200" b="0" i="0">
                <a:solidFill>
                  <a:srgbClr val="F2F7FF"/>
                </a:solidFill>
                <a:latin typeface="Aptos"/>
              </a:rPr>
              <a:t>Search the menu by name, sort menu items with Collections.sort(), and sort/search prices with Arrays.</a:t>
            </a:r>
            <a:endParaRPr sz="1200" b="0" i="0">
              <a:solidFill>
                <a:srgbClr val="F2F7FF"/>
              </a:solidFill>
              <a:latin typeface="Aptos"/>
            </a:endParaRPr>
          </a:p>
        </p:txBody>
      </p:sp>
      <p:sp>
        <p:nvSpPr>
          <p:cNvPr id="27" name="Rounded Rectangle 26"/>
          <p:cNvSpPr/>
          <p:nvPr/>
        </p:nvSpPr>
        <p:spPr>
          <a:xfrm>
            <a:off x="621792" y="4485131"/>
            <a:ext cx="3063240" cy="571500"/>
          </a:xfrm>
          <a:prstGeom prst="roundRect">
            <a:avLst>
              <a:gd name="adj" fmla="val 12000"/>
            </a:avLst>
          </a:prstGeom>
          <a:solidFill>
            <a:srgbClr val="14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3822191" y="4485131"/>
            <a:ext cx="7726679" cy="571500"/>
          </a:xfrm>
          <a:prstGeom prst="roundRect">
            <a:avLst>
              <a:gd name="adj" fmla="val 12000"/>
            </a:avLst>
          </a:prstGeom>
          <a:solidFill>
            <a:srgbClr val="14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1792" y="4485131"/>
            <a:ext cx="50292" cy="571500"/>
          </a:xfrm>
          <a:prstGeom prst="rect">
            <a:avLst/>
          </a:prstGeom>
          <a:solidFill>
            <a:srgbClr val="42DA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5528" y="4558283"/>
            <a:ext cx="2697480" cy="461772"/>
          </a:xfrm>
          <a:prstGeom prst="rect">
            <a:avLst/>
          </a:prstGeom>
          <a:noFill/>
        </p:spPr>
        <p:txBody>
          <a:bodyPr wrap="square" lIns="36576" tIns="36576" rIns="36576" bIns="36576" anchor="ctr">
            <a:spAutoFit/>
          </a:bodyPr>
          <a:lstStyle/>
          <a:p>
            <a:pPr algn="l">
              <a:spcAft>
                <a:spcPts val="400"/>
              </a:spcAft>
            </a:pPr>
            <a:r>
              <a:rPr sz="1300" b="1" i="0">
                <a:solidFill>
                  <a:srgbClr val="F2F7FF"/>
                </a:solidFill>
                <a:latin typeface="Aptos"/>
              </a:rPr>
              <a:t>Comparable interface</a:t>
            </a:r>
            <a:endParaRPr sz="1300" b="1" i="0">
              <a:solidFill>
                <a:srgbClr val="F2F7FF"/>
              </a:solidFill>
              <a:latin typeface="Aptos"/>
            </a:endParaRPr>
          </a:p>
        </p:txBody>
      </p:sp>
      <p:sp>
        <p:nvSpPr>
          <p:cNvPr id="31" name="TextBox 30"/>
          <p:cNvSpPr txBox="1"/>
          <p:nvPr/>
        </p:nvSpPr>
        <p:spPr>
          <a:xfrm>
            <a:off x="4041648" y="4539995"/>
            <a:ext cx="7269480" cy="480060"/>
          </a:xfrm>
          <a:prstGeom prst="rect">
            <a:avLst/>
          </a:prstGeom>
          <a:noFill/>
        </p:spPr>
        <p:txBody>
          <a:bodyPr wrap="square" lIns="36576" tIns="36576" rIns="36576" bIns="36576" anchor="ctr">
            <a:spAutoFit/>
          </a:bodyPr>
          <a:lstStyle/>
          <a:p>
            <a:pPr algn="l">
              <a:spcAft>
                <a:spcPts val="400"/>
              </a:spcAft>
            </a:pPr>
            <a:r>
              <a:rPr sz="1200" b="0" i="0">
                <a:solidFill>
                  <a:srgbClr val="F2F7FF"/>
                </a:solidFill>
                <a:latin typeface="Aptos"/>
              </a:rPr>
              <a:t>MenuItem compares prices so the menu can be sorted by price.</a:t>
            </a:r>
            <a:endParaRPr sz="1200" b="0" i="0">
              <a:solidFill>
                <a:srgbClr val="F2F7FF"/>
              </a:solidFill>
              <a:latin typeface="Aptos"/>
            </a:endParaRPr>
          </a:p>
        </p:txBody>
      </p:sp>
      <p:sp>
        <p:nvSpPr>
          <p:cNvPr id="32" name="Rounded Rectangle 31"/>
          <p:cNvSpPr/>
          <p:nvPr/>
        </p:nvSpPr>
        <p:spPr>
          <a:xfrm>
            <a:off x="621792" y="5148072"/>
            <a:ext cx="3063240" cy="571500"/>
          </a:xfrm>
          <a:prstGeom prst="roundRect">
            <a:avLst>
              <a:gd name="adj" fmla="val 12000"/>
            </a:avLst>
          </a:prstGeom>
          <a:solidFill>
            <a:srgbClr val="14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3822191" y="5148072"/>
            <a:ext cx="7726679" cy="571500"/>
          </a:xfrm>
          <a:prstGeom prst="roundRect">
            <a:avLst>
              <a:gd name="adj" fmla="val 12000"/>
            </a:avLst>
          </a:prstGeom>
          <a:solidFill>
            <a:srgbClr val="14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21792" y="5148072"/>
            <a:ext cx="50292" cy="571500"/>
          </a:xfrm>
          <a:prstGeom prst="rect">
            <a:avLst/>
          </a:prstGeom>
          <a:solidFill>
            <a:srgbClr val="2ABE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5528" y="5221224"/>
            <a:ext cx="2697480" cy="461772"/>
          </a:xfrm>
          <a:prstGeom prst="rect">
            <a:avLst/>
          </a:prstGeom>
          <a:noFill/>
        </p:spPr>
        <p:txBody>
          <a:bodyPr wrap="square" lIns="36576" tIns="36576" rIns="36576" bIns="36576" anchor="ctr">
            <a:spAutoFit/>
          </a:bodyPr>
          <a:lstStyle/>
          <a:p>
            <a:pPr algn="l">
              <a:spcAft>
                <a:spcPts val="400"/>
              </a:spcAft>
            </a:pPr>
            <a:r>
              <a:rPr sz="1300" b="1" i="0">
                <a:solidFill>
                  <a:srgbClr val="F2F7FF"/>
                </a:solidFill>
                <a:latin typeface="Aptos"/>
              </a:rPr>
              <a:t>Files, Path &amp; buffered writing</a:t>
            </a:r>
            <a:endParaRPr sz="1300" b="1" i="0">
              <a:solidFill>
                <a:srgbClr val="F2F7FF"/>
              </a:solidFill>
              <a:latin typeface="Aptos"/>
            </a:endParaRPr>
          </a:p>
        </p:txBody>
      </p:sp>
      <p:sp>
        <p:nvSpPr>
          <p:cNvPr id="36" name="TextBox 35"/>
          <p:cNvSpPr txBox="1"/>
          <p:nvPr/>
        </p:nvSpPr>
        <p:spPr>
          <a:xfrm>
            <a:off x="4041648" y="5202936"/>
            <a:ext cx="7269480" cy="480060"/>
          </a:xfrm>
          <a:prstGeom prst="rect">
            <a:avLst/>
          </a:prstGeom>
          <a:noFill/>
        </p:spPr>
        <p:txBody>
          <a:bodyPr wrap="square" lIns="36576" tIns="36576" rIns="36576" bIns="36576" anchor="ctr">
            <a:spAutoFit/>
          </a:bodyPr>
          <a:lstStyle/>
          <a:p>
            <a:pPr algn="l">
              <a:spcAft>
                <a:spcPts val="400"/>
              </a:spcAft>
            </a:pPr>
            <a:r>
              <a:rPr sz="1200" b="0" i="0">
                <a:solidFill>
                  <a:srgbClr val="F2F7FF"/>
                </a:solidFill>
                <a:latin typeface="Aptos"/>
              </a:rPr>
              <a:t>Save customer and item details by appending lines to restaurant_orders.txt.</a:t>
            </a:r>
            <a:endParaRPr sz="1200" b="0" i="0">
              <a:solidFill>
                <a:srgbClr val="F2F7FF"/>
              </a:solidFill>
              <a:latin typeface="Aptos"/>
            </a:endParaRPr>
          </a:p>
        </p:txBody>
      </p:sp>
      <p:sp>
        <p:nvSpPr>
          <p:cNvPr id="37" name="Rounded Rectangle 36"/>
          <p:cNvSpPr/>
          <p:nvPr/>
        </p:nvSpPr>
        <p:spPr>
          <a:xfrm>
            <a:off x="621792" y="5811012"/>
            <a:ext cx="3063240" cy="571500"/>
          </a:xfrm>
          <a:prstGeom prst="roundRect">
            <a:avLst>
              <a:gd name="adj" fmla="val 12000"/>
            </a:avLst>
          </a:prstGeom>
          <a:solidFill>
            <a:srgbClr val="14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3822191" y="5811012"/>
            <a:ext cx="7726679" cy="571500"/>
          </a:xfrm>
          <a:prstGeom prst="roundRect">
            <a:avLst>
              <a:gd name="adj" fmla="val 12000"/>
            </a:avLst>
          </a:prstGeom>
          <a:solidFill>
            <a:srgbClr val="14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21792" y="5811012"/>
            <a:ext cx="50292" cy="571500"/>
          </a:xfrm>
          <a:prstGeom prst="rect">
            <a:avLst/>
          </a:prstGeom>
          <a:solidFill>
            <a:srgbClr val="42DA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95528" y="5884164"/>
            <a:ext cx="2697480" cy="461772"/>
          </a:xfrm>
          <a:prstGeom prst="rect">
            <a:avLst/>
          </a:prstGeom>
          <a:noFill/>
        </p:spPr>
        <p:txBody>
          <a:bodyPr wrap="square" lIns="36576" tIns="36576" rIns="36576" bIns="36576" anchor="ctr">
            <a:spAutoFit/>
          </a:bodyPr>
          <a:lstStyle/>
          <a:p>
            <a:pPr algn="l">
              <a:spcAft>
                <a:spcPts val="400"/>
              </a:spcAft>
            </a:pPr>
            <a:r>
              <a:rPr sz="1300" b="1" i="0">
                <a:solidFill>
                  <a:srgbClr val="F2F7FF"/>
                </a:solidFill>
                <a:latin typeface="Aptos"/>
              </a:rPr>
              <a:t>Reading files &amp; exception handling</a:t>
            </a:r>
            <a:endParaRPr sz="1300" b="1" i="0">
              <a:solidFill>
                <a:srgbClr val="F2F7FF"/>
              </a:solidFill>
              <a:latin typeface="Aptos"/>
            </a:endParaRPr>
          </a:p>
        </p:txBody>
      </p:sp>
      <p:sp>
        <p:nvSpPr>
          <p:cNvPr id="41" name="TextBox 40"/>
          <p:cNvSpPr txBox="1"/>
          <p:nvPr/>
        </p:nvSpPr>
        <p:spPr>
          <a:xfrm>
            <a:off x="4041648" y="5865876"/>
            <a:ext cx="7269480" cy="480060"/>
          </a:xfrm>
          <a:prstGeom prst="rect">
            <a:avLst/>
          </a:prstGeom>
          <a:noFill/>
        </p:spPr>
        <p:txBody>
          <a:bodyPr wrap="square" lIns="36576" tIns="36576" rIns="36576" bIns="36576" anchor="ctr">
            <a:spAutoFit/>
          </a:bodyPr>
          <a:lstStyle/>
          <a:p>
            <a:pPr algn="l">
              <a:spcAft>
                <a:spcPts val="400"/>
              </a:spcAft>
            </a:pPr>
            <a:r>
              <a:rPr sz="1200" b="0" i="0">
                <a:solidFill>
                  <a:srgbClr val="F2F7FF"/>
                </a:solidFill>
                <a:latin typeface="Aptos"/>
              </a:rPr>
              <a:t>Check whether the order file exists, read it line-by-line with Files.lines(), and handle IOException.</a:t>
            </a:r>
            <a:endParaRPr sz="1200" b="0" i="0">
              <a:solidFill>
                <a:srgbClr val="F2F7FF"/>
              </a:solidFill>
              <a:latin typeface="Aptos"/>
            </a:endParaRPr>
          </a:p>
        </p:txBody>
      </p:sp>
      <p:sp>
        <p:nvSpPr>
          <p:cNvPr id="43" name="Rectangle 42"/>
          <p:cNvSpPr/>
          <p:nvPr/>
        </p:nvSpPr>
        <p:spPr>
          <a:xfrm>
            <a:off x="164592" y="0"/>
            <a:ext cx="1234440" cy="365760"/>
          </a:xfrm>
          <a:prstGeom prst="rect">
            <a:avLst/>
          </a:prstGeom>
          <a:solidFill>
            <a:srgbClr val="081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8122B"/>
        </a:solidFill>
        <a:effectLst/>
      </p:bgPr>
    </p:bg>
    <p:spTree>
      <p:nvGrpSpPr>
        <p:cNvPr id="1" name=""/>
        <p:cNvGrpSpPr/>
        <p:nvPr/>
      </p:nvGrpSpPr>
      <p:grpSpPr>
        <a:xfrm>
          <a:off x="0" y="0"/>
          <a:ext cx="0" cy="0"/>
          <a:chOff x="0" y="0"/>
          <a:chExt cx="0" cy="0"/>
        </a:xfrm>
      </p:grpSpPr>
      <p:sp>
        <p:nvSpPr>
          <p:cNvPr id="2" name="Rectangle 1"/>
          <p:cNvSpPr/>
          <p:nvPr/>
        </p:nvSpPr>
        <p:spPr>
          <a:xfrm>
            <a:off x="594360" y="438912"/>
            <a:ext cx="91440" cy="384048"/>
          </a:xfrm>
          <a:prstGeom prst="rect">
            <a:avLst/>
          </a:prstGeom>
          <a:solidFill>
            <a:srgbClr val="42DA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04672" y="429768"/>
            <a:ext cx="2286000" cy="256032"/>
          </a:xfrm>
          <a:prstGeom prst="rect">
            <a:avLst/>
          </a:prstGeom>
          <a:noFill/>
        </p:spPr>
        <p:txBody>
          <a:bodyPr wrap="square" lIns="36576" tIns="36576" rIns="36576" bIns="36576" anchor="t">
            <a:spAutoFit/>
          </a:bodyPr>
          <a:lstStyle/>
          <a:p>
            <a:pPr algn="l">
              <a:spcAft>
                <a:spcPts val="400"/>
              </a:spcAft>
            </a:pPr>
            <a:r>
              <a:rPr sz="1000" b="1" i="0">
                <a:solidFill>
                  <a:srgbClr val="42DAE6"/>
                </a:solidFill>
                <a:latin typeface="Aptos"/>
              </a:rPr>
              <a:t>CO 6  /  MODULE 6</a:t>
            </a:r>
            <a:endParaRPr sz="1000" b="1" i="0">
              <a:solidFill>
                <a:srgbClr val="42DAE6"/>
              </a:solidFill>
              <a:latin typeface="Aptos"/>
            </a:endParaRPr>
          </a:p>
        </p:txBody>
      </p:sp>
      <p:sp>
        <p:nvSpPr>
          <p:cNvPr id="4" name="TextBox 3"/>
          <p:cNvSpPr txBox="1"/>
          <p:nvPr/>
        </p:nvSpPr>
        <p:spPr>
          <a:xfrm>
            <a:off x="594360" y="841248"/>
            <a:ext cx="10972800" cy="530352"/>
          </a:xfrm>
          <a:prstGeom prst="rect">
            <a:avLst/>
          </a:prstGeom>
          <a:noFill/>
        </p:spPr>
        <p:txBody>
          <a:bodyPr wrap="square" lIns="36576" tIns="36576" rIns="36576" bIns="36576" anchor="t">
            <a:spAutoFit/>
          </a:bodyPr>
          <a:lstStyle/>
          <a:p>
            <a:pPr algn="l">
              <a:spcAft>
                <a:spcPts val="400"/>
              </a:spcAft>
            </a:pPr>
            <a:r>
              <a:rPr sz="2900" b="1" i="0">
                <a:solidFill>
                  <a:srgbClr val="F2F7FF"/>
                </a:solidFill>
                <a:latin typeface="Aptos"/>
              </a:rPr>
              <a:t>CO 6  |  Functional Programming &amp; Collections</a:t>
            </a:r>
            <a:endParaRPr sz="2900" b="1" i="0">
              <a:solidFill>
                <a:srgbClr val="F2F7FF"/>
              </a:solidFill>
              <a:latin typeface="Aptos"/>
            </a:endParaRPr>
          </a:p>
        </p:txBody>
      </p:sp>
      <p:sp>
        <p:nvSpPr>
          <p:cNvPr id="5" name="TextBox 4"/>
          <p:cNvSpPr txBox="1"/>
          <p:nvPr/>
        </p:nvSpPr>
        <p:spPr>
          <a:xfrm>
            <a:off x="621792" y="1399032"/>
            <a:ext cx="10881360" cy="384048"/>
          </a:xfrm>
          <a:prstGeom prst="rect">
            <a:avLst/>
          </a:prstGeom>
          <a:noFill/>
        </p:spPr>
        <p:txBody>
          <a:bodyPr wrap="square" lIns="36576" tIns="36576" rIns="36576" bIns="36576" anchor="t">
            <a:spAutoFit/>
          </a:bodyPr>
          <a:lstStyle/>
          <a:p>
            <a:pPr algn="l">
              <a:spcAft>
                <a:spcPts val="400"/>
              </a:spcAft>
            </a:pPr>
            <a:r>
              <a:rPr sz="1200" b="0" i="0">
                <a:solidFill>
                  <a:srgbClr val="B4C5DD"/>
                </a:solidFill>
                <a:latin typeface="Aptos"/>
              </a:rPr>
              <a:t>Functional Programming with Collections &amp; Streams</a:t>
            </a:r>
            <a:endParaRPr sz="1200" b="0" i="0">
              <a:solidFill>
                <a:srgbClr val="B4C5DD"/>
              </a:solidFill>
              <a:latin typeface="Aptos"/>
            </a:endParaRPr>
          </a:p>
        </p:txBody>
      </p:sp>
      <p:sp>
        <p:nvSpPr>
          <p:cNvPr id="6" name="Rectangle 5"/>
          <p:cNvSpPr/>
          <p:nvPr/>
        </p:nvSpPr>
        <p:spPr>
          <a:xfrm>
            <a:off x="594360" y="6455664"/>
            <a:ext cx="10972800" cy="10972"/>
          </a:xfrm>
          <a:prstGeom prst="rect">
            <a:avLst/>
          </a:prstGeom>
          <a:solidFill>
            <a:srgbClr val="1934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64240" y="6492240"/>
            <a:ext cx="457200" cy="182880"/>
          </a:xfrm>
          <a:prstGeom prst="rect">
            <a:avLst/>
          </a:prstGeom>
          <a:noFill/>
        </p:spPr>
        <p:txBody>
          <a:bodyPr wrap="square" lIns="36576" tIns="36576" rIns="36576" bIns="36576" anchor="t">
            <a:spAutoFit/>
          </a:bodyPr>
          <a:lstStyle/>
          <a:p>
            <a:pPr algn="r">
              <a:spcAft>
                <a:spcPts val="400"/>
              </a:spcAft>
            </a:pPr>
            <a:r>
              <a:rPr sz="900" b="1" i="0">
                <a:solidFill>
                  <a:srgbClr val="B4C5DD"/>
                </a:solidFill>
                <a:latin typeface="Aptos"/>
              </a:rPr>
              <a:t>09</a:t>
            </a:r>
            <a:endParaRPr sz="900" b="1" i="0">
              <a:solidFill>
                <a:srgbClr val="B4C5DD"/>
              </a:solidFill>
              <a:latin typeface="Aptos"/>
            </a:endParaRPr>
          </a:p>
        </p:txBody>
      </p:sp>
      <p:sp>
        <p:nvSpPr>
          <p:cNvPr id="8" name="Rounded Rectangle 7"/>
          <p:cNvSpPr/>
          <p:nvPr/>
        </p:nvSpPr>
        <p:spPr>
          <a:xfrm>
            <a:off x="621792" y="1938528"/>
            <a:ext cx="3063240" cy="438912"/>
          </a:xfrm>
          <a:prstGeom prst="roundRect">
            <a:avLst>
              <a:gd name="adj" fmla="val 12000"/>
            </a:avLst>
          </a:prstGeom>
          <a:solidFill>
            <a:srgbClr val="1650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822191" y="1938528"/>
            <a:ext cx="7726679" cy="438912"/>
          </a:xfrm>
          <a:prstGeom prst="roundRect">
            <a:avLst>
              <a:gd name="adj" fmla="val 12000"/>
            </a:avLst>
          </a:prstGeom>
          <a:solidFill>
            <a:srgbClr val="1650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2020824"/>
            <a:ext cx="2697480" cy="228600"/>
          </a:xfrm>
          <a:prstGeom prst="rect">
            <a:avLst/>
          </a:prstGeom>
          <a:noFill/>
        </p:spPr>
        <p:txBody>
          <a:bodyPr wrap="square" lIns="36576" tIns="36576" rIns="36576" bIns="36576" anchor="t">
            <a:spAutoFit/>
          </a:bodyPr>
          <a:lstStyle/>
          <a:p>
            <a:pPr algn="l">
              <a:spcAft>
                <a:spcPts val="400"/>
              </a:spcAft>
            </a:pPr>
            <a:r>
              <a:rPr sz="1100" b="1" i="0">
                <a:solidFill>
                  <a:srgbClr val="42DAE6"/>
                </a:solidFill>
                <a:latin typeface="Aptos"/>
              </a:rPr>
              <a:t>TOPIC USED</a:t>
            </a:r>
            <a:endParaRPr sz="1100" b="1" i="0">
              <a:solidFill>
                <a:srgbClr val="42DAE6"/>
              </a:solidFill>
              <a:latin typeface="Aptos"/>
            </a:endParaRPr>
          </a:p>
        </p:txBody>
      </p:sp>
      <p:sp>
        <p:nvSpPr>
          <p:cNvPr id="11" name="TextBox 10"/>
          <p:cNvSpPr txBox="1"/>
          <p:nvPr/>
        </p:nvSpPr>
        <p:spPr>
          <a:xfrm>
            <a:off x="4041648" y="2020824"/>
            <a:ext cx="7223760" cy="228600"/>
          </a:xfrm>
          <a:prstGeom prst="rect">
            <a:avLst/>
          </a:prstGeom>
          <a:noFill/>
        </p:spPr>
        <p:txBody>
          <a:bodyPr wrap="square" lIns="36576" tIns="36576" rIns="36576" bIns="36576" anchor="t">
            <a:spAutoFit/>
          </a:bodyPr>
          <a:lstStyle/>
          <a:p>
            <a:pPr algn="l">
              <a:spcAft>
                <a:spcPts val="400"/>
              </a:spcAft>
            </a:pPr>
            <a:r>
              <a:rPr sz="1100" b="1" i="0">
                <a:solidFill>
                  <a:srgbClr val="42DAE6"/>
                </a:solidFill>
                <a:latin typeface="Aptos"/>
              </a:rPr>
              <a:t>PURPOSE IN OUR CODE</a:t>
            </a:r>
            <a:endParaRPr sz="1100" b="1" i="0">
              <a:solidFill>
                <a:srgbClr val="42DAE6"/>
              </a:solidFill>
              <a:latin typeface="Aptos"/>
            </a:endParaRPr>
          </a:p>
        </p:txBody>
      </p:sp>
      <p:sp>
        <p:nvSpPr>
          <p:cNvPr id="12" name="Rounded Rectangle 11"/>
          <p:cNvSpPr/>
          <p:nvPr/>
        </p:nvSpPr>
        <p:spPr>
          <a:xfrm>
            <a:off x="621792" y="2496312"/>
            <a:ext cx="3063240" cy="571500"/>
          </a:xfrm>
          <a:prstGeom prst="roundRect">
            <a:avLst>
              <a:gd name="adj" fmla="val 12000"/>
            </a:avLst>
          </a:prstGeom>
          <a:solidFill>
            <a:srgbClr val="14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822191" y="2496312"/>
            <a:ext cx="7726679" cy="571500"/>
          </a:xfrm>
          <a:prstGeom prst="roundRect">
            <a:avLst>
              <a:gd name="adj" fmla="val 12000"/>
            </a:avLst>
          </a:prstGeom>
          <a:solidFill>
            <a:srgbClr val="14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 y="2496312"/>
            <a:ext cx="50292" cy="571500"/>
          </a:xfrm>
          <a:prstGeom prst="rect">
            <a:avLst/>
          </a:prstGeom>
          <a:solidFill>
            <a:srgbClr val="2ABE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95528" y="2569464"/>
            <a:ext cx="2697480" cy="461772"/>
          </a:xfrm>
          <a:prstGeom prst="rect">
            <a:avLst/>
          </a:prstGeom>
          <a:noFill/>
        </p:spPr>
        <p:txBody>
          <a:bodyPr wrap="square" lIns="36576" tIns="36576" rIns="36576" bIns="36576" anchor="ctr">
            <a:spAutoFit/>
          </a:bodyPr>
          <a:lstStyle/>
          <a:p>
            <a:pPr algn="l">
              <a:spcAft>
                <a:spcPts val="400"/>
              </a:spcAft>
            </a:pPr>
            <a:r>
              <a:rPr sz="1300" b="1" i="0">
                <a:solidFill>
                  <a:srgbClr val="F2F7FF"/>
                </a:solidFill>
                <a:latin typeface="Aptos"/>
              </a:rPr>
              <a:t>ArrayList, HashMap &amp; HashSet</a:t>
            </a:r>
            <a:endParaRPr sz="1300" b="1" i="0">
              <a:solidFill>
                <a:srgbClr val="F2F7FF"/>
              </a:solidFill>
              <a:latin typeface="Aptos"/>
            </a:endParaRPr>
          </a:p>
        </p:txBody>
      </p:sp>
      <p:sp>
        <p:nvSpPr>
          <p:cNvPr id="16" name="TextBox 15"/>
          <p:cNvSpPr txBox="1"/>
          <p:nvPr/>
        </p:nvSpPr>
        <p:spPr>
          <a:xfrm>
            <a:off x="4041648" y="2551176"/>
            <a:ext cx="7269480" cy="480060"/>
          </a:xfrm>
          <a:prstGeom prst="rect">
            <a:avLst/>
          </a:prstGeom>
          <a:noFill/>
        </p:spPr>
        <p:txBody>
          <a:bodyPr wrap="square" lIns="36576" tIns="36576" rIns="36576" bIns="36576" anchor="ctr">
            <a:spAutoFit/>
          </a:bodyPr>
          <a:lstStyle/>
          <a:p>
            <a:pPr algn="l">
              <a:spcAft>
                <a:spcPts val="400"/>
              </a:spcAft>
            </a:pPr>
            <a:r>
              <a:rPr sz="1200" b="0" i="0">
                <a:solidFill>
                  <a:srgbClr val="F2F7FF"/>
                </a:solidFill>
                <a:latin typeface="Aptos"/>
              </a:rPr>
              <a:t>Store menu/order items, look up menu items by ID, and keep unique menu names.</a:t>
            </a:r>
            <a:endParaRPr sz="1200" b="0" i="0">
              <a:solidFill>
                <a:srgbClr val="F2F7FF"/>
              </a:solidFill>
              <a:latin typeface="Aptos"/>
            </a:endParaRPr>
          </a:p>
        </p:txBody>
      </p:sp>
      <p:sp>
        <p:nvSpPr>
          <p:cNvPr id="17" name="Rounded Rectangle 16"/>
          <p:cNvSpPr/>
          <p:nvPr/>
        </p:nvSpPr>
        <p:spPr>
          <a:xfrm>
            <a:off x="621792" y="3159252"/>
            <a:ext cx="3063240" cy="571500"/>
          </a:xfrm>
          <a:prstGeom prst="roundRect">
            <a:avLst>
              <a:gd name="adj" fmla="val 12000"/>
            </a:avLst>
          </a:prstGeom>
          <a:solidFill>
            <a:srgbClr val="14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822191" y="3159252"/>
            <a:ext cx="7726679" cy="571500"/>
          </a:xfrm>
          <a:prstGeom prst="roundRect">
            <a:avLst>
              <a:gd name="adj" fmla="val 12000"/>
            </a:avLst>
          </a:prstGeom>
          <a:solidFill>
            <a:srgbClr val="14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 y="3159252"/>
            <a:ext cx="50292" cy="571500"/>
          </a:xfrm>
          <a:prstGeom prst="rect">
            <a:avLst/>
          </a:prstGeom>
          <a:solidFill>
            <a:srgbClr val="42DA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5528" y="3232404"/>
            <a:ext cx="2697480" cy="461772"/>
          </a:xfrm>
          <a:prstGeom prst="rect">
            <a:avLst/>
          </a:prstGeom>
          <a:noFill/>
        </p:spPr>
        <p:txBody>
          <a:bodyPr wrap="square" lIns="36576" tIns="36576" rIns="36576" bIns="36576" anchor="ctr">
            <a:spAutoFit/>
          </a:bodyPr>
          <a:lstStyle/>
          <a:p>
            <a:pPr algn="l">
              <a:spcAft>
                <a:spcPts val="400"/>
              </a:spcAft>
            </a:pPr>
            <a:r>
              <a:rPr sz="1300" b="1" i="0">
                <a:solidFill>
                  <a:srgbClr val="F2F7FF"/>
                </a:solidFill>
                <a:latin typeface="Aptos"/>
              </a:rPr>
              <a:t>Generics &amp; typed collections</a:t>
            </a:r>
            <a:endParaRPr sz="1300" b="1" i="0">
              <a:solidFill>
                <a:srgbClr val="F2F7FF"/>
              </a:solidFill>
              <a:latin typeface="Aptos"/>
            </a:endParaRPr>
          </a:p>
        </p:txBody>
      </p:sp>
      <p:sp>
        <p:nvSpPr>
          <p:cNvPr id="21" name="TextBox 20"/>
          <p:cNvSpPr txBox="1"/>
          <p:nvPr/>
        </p:nvSpPr>
        <p:spPr>
          <a:xfrm>
            <a:off x="4041648" y="3214116"/>
            <a:ext cx="7269480" cy="480060"/>
          </a:xfrm>
          <a:prstGeom prst="rect">
            <a:avLst/>
          </a:prstGeom>
          <a:noFill/>
        </p:spPr>
        <p:txBody>
          <a:bodyPr wrap="square" lIns="36576" tIns="36576" rIns="36576" bIns="36576" anchor="ctr">
            <a:spAutoFit/>
          </a:bodyPr>
          <a:lstStyle/>
          <a:p>
            <a:pPr algn="l">
              <a:spcAft>
                <a:spcPts val="400"/>
              </a:spcAft>
            </a:pPr>
            <a:r>
              <a:rPr sz="1200" b="0" i="0">
                <a:solidFill>
                  <a:srgbClr val="F2F7FF"/>
                </a:solidFill>
                <a:latin typeface="Aptos"/>
              </a:rPr>
              <a:t>Use typed lists, maps, and sets so each collection holds the intended kind of data.</a:t>
            </a:r>
            <a:endParaRPr sz="1200" b="0" i="0">
              <a:solidFill>
                <a:srgbClr val="F2F7FF"/>
              </a:solidFill>
              <a:latin typeface="Aptos"/>
            </a:endParaRPr>
          </a:p>
        </p:txBody>
      </p:sp>
      <p:sp>
        <p:nvSpPr>
          <p:cNvPr id="22" name="Rounded Rectangle 21"/>
          <p:cNvSpPr/>
          <p:nvPr/>
        </p:nvSpPr>
        <p:spPr>
          <a:xfrm>
            <a:off x="621792" y="3822191"/>
            <a:ext cx="3063240" cy="571500"/>
          </a:xfrm>
          <a:prstGeom prst="roundRect">
            <a:avLst>
              <a:gd name="adj" fmla="val 12000"/>
            </a:avLst>
          </a:prstGeom>
          <a:solidFill>
            <a:srgbClr val="14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3822191" y="3822191"/>
            <a:ext cx="7726679" cy="571500"/>
          </a:xfrm>
          <a:prstGeom prst="roundRect">
            <a:avLst>
              <a:gd name="adj" fmla="val 12000"/>
            </a:avLst>
          </a:prstGeom>
          <a:solidFill>
            <a:srgbClr val="14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 y="3822191"/>
            <a:ext cx="50292" cy="571500"/>
          </a:xfrm>
          <a:prstGeom prst="rect">
            <a:avLst/>
          </a:prstGeom>
          <a:solidFill>
            <a:srgbClr val="2ABE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5528" y="3895344"/>
            <a:ext cx="2697480" cy="461772"/>
          </a:xfrm>
          <a:prstGeom prst="rect">
            <a:avLst/>
          </a:prstGeom>
          <a:noFill/>
        </p:spPr>
        <p:txBody>
          <a:bodyPr wrap="square" lIns="36576" tIns="36576" rIns="36576" bIns="36576" anchor="ctr">
            <a:spAutoFit/>
          </a:bodyPr>
          <a:lstStyle/>
          <a:p>
            <a:pPr algn="l">
              <a:spcAft>
                <a:spcPts val="400"/>
              </a:spcAft>
            </a:pPr>
            <a:r>
              <a:rPr sz="1300" b="1" i="0">
                <a:solidFill>
                  <a:srgbClr val="F2F7FF"/>
                </a:solidFill>
                <a:latin typeface="Aptos"/>
              </a:rPr>
              <a:t>Lambda expressions &amp; functional interfaces</a:t>
            </a:r>
            <a:endParaRPr sz="1300" b="1" i="0">
              <a:solidFill>
                <a:srgbClr val="F2F7FF"/>
              </a:solidFill>
              <a:latin typeface="Aptos"/>
            </a:endParaRPr>
          </a:p>
        </p:txBody>
      </p:sp>
      <p:sp>
        <p:nvSpPr>
          <p:cNvPr id="26" name="TextBox 25"/>
          <p:cNvSpPr txBox="1"/>
          <p:nvPr/>
        </p:nvSpPr>
        <p:spPr>
          <a:xfrm>
            <a:off x="4041648" y="3877055"/>
            <a:ext cx="7269480" cy="480060"/>
          </a:xfrm>
          <a:prstGeom prst="rect">
            <a:avLst/>
          </a:prstGeom>
          <a:noFill/>
        </p:spPr>
        <p:txBody>
          <a:bodyPr wrap="square" lIns="36576" tIns="36576" rIns="36576" bIns="36576" anchor="ctr">
            <a:spAutoFit/>
          </a:bodyPr>
          <a:lstStyle/>
          <a:p>
            <a:pPr algn="l">
              <a:spcAft>
                <a:spcPts val="400"/>
              </a:spcAft>
            </a:pPr>
            <a:r>
              <a:rPr sz="1200" b="0" i="0">
                <a:solidFill>
                  <a:srgbClr val="F2F7FF"/>
                </a:solidFill>
                <a:latin typeface="Aptos"/>
              </a:rPr>
              <a:t>Predicate filters items priced at least ₹100; Function converts names to uppercase; Supplier creates a message.</a:t>
            </a:r>
            <a:endParaRPr sz="1200" b="0" i="0">
              <a:solidFill>
                <a:srgbClr val="F2F7FF"/>
              </a:solidFill>
              <a:latin typeface="Aptos"/>
            </a:endParaRPr>
          </a:p>
        </p:txBody>
      </p:sp>
      <p:sp>
        <p:nvSpPr>
          <p:cNvPr id="27" name="Rounded Rectangle 26"/>
          <p:cNvSpPr/>
          <p:nvPr/>
        </p:nvSpPr>
        <p:spPr>
          <a:xfrm>
            <a:off x="621792" y="4485131"/>
            <a:ext cx="3063240" cy="571500"/>
          </a:xfrm>
          <a:prstGeom prst="roundRect">
            <a:avLst>
              <a:gd name="adj" fmla="val 12000"/>
            </a:avLst>
          </a:prstGeom>
          <a:solidFill>
            <a:srgbClr val="14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3822191" y="4485131"/>
            <a:ext cx="7726679" cy="571500"/>
          </a:xfrm>
          <a:prstGeom prst="roundRect">
            <a:avLst>
              <a:gd name="adj" fmla="val 12000"/>
            </a:avLst>
          </a:prstGeom>
          <a:solidFill>
            <a:srgbClr val="14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1792" y="4485131"/>
            <a:ext cx="50292" cy="571500"/>
          </a:xfrm>
          <a:prstGeom prst="rect">
            <a:avLst/>
          </a:prstGeom>
          <a:solidFill>
            <a:srgbClr val="42DA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5528" y="4558283"/>
            <a:ext cx="2697480" cy="461772"/>
          </a:xfrm>
          <a:prstGeom prst="rect">
            <a:avLst/>
          </a:prstGeom>
          <a:noFill/>
        </p:spPr>
        <p:txBody>
          <a:bodyPr wrap="square" lIns="36576" tIns="36576" rIns="36576" bIns="36576" anchor="ctr">
            <a:spAutoFit/>
          </a:bodyPr>
          <a:lstStyle/>
          <a:p>
            <a:pPr algn="l">
              <a:spcAft>
                <a:spcPts val="400"/>
              </a:spcAft>
            </a:pPr>
            <a:r>
              <a:rPr sz="1300" b="1" i="0">
                <a:solidFill>
                  <a:srgbClr val="F2F7FF"/>
                </a:solidFill>
                <a:latin typeface="Aptos"/>
              </a:rPr>
              <a:t>Method references</a:t>
            </a:r>
            <a:endParaRPr sz="1300" b="1" i="0">
              <a:solidFill>
                <a:srgbClr val="F2F7FF"/>
              </a:solidFill>
              <a:latin typeface="Aptos"/>
            </a:endParaRPr>
          </a:p>
        </p:txBody>
      </p:sp>
      <p:sp>
        <p:nvSpPr>
          <p:cNvPr id="31" name="TextBox 30"/>
          <p:cNvSpPr txBox="1"/>
          <p:nvPr/>
        </p:nvSpPr>
        <p:spPr>
          <a:xfrm>
            <a:off x="4041648" y="4539995"/>
            <a:ext cx="7269480" cy="480060"/>
          </a:xfrm>
          <a:prstGeom prst="rect">
            <a:avLst/>
          </a:prstGeom>
          <a:noFill/>
        </p:spPr>
        <p:txBody>
          <a:bodyPr wrap="square" lIns="36576" tIns="36576" rIns="36576" bIns="36576" anchor="ctr">
            <a:spAutoFit/>
          </a:bodyPr>
          <a:lstStyle/>
          <a:p>
            <a:pPr algn="l">
              <a:spcAft>
                <a:spcPts val="400"/>
              </a:spcAft>
            </a:pPr>
            <a:r>
              <a:rPr sz="1200" b="0" i="0">
                <a:solidFill>
                  <a:srgbClr val="F2F7FF"/>
                </a:solidFill>
                <a:latin typeface="Aptos"/>
              </a:rPr>
              <a:t>Print stream results and access menu-item names/category codes without writing separate loops.</a:t>
            </a:r>
            <a:endParaRPr sz="1200" b="0" i="0">
              <a:solidFill>
                <a:srgbClr val="F2F7FF"/>
              </a:solidFill>
              <a:latin typeface="Aptos"/>
            </a:endParaRPr>
          </a:p>
        </p:txBody>
      </p:sp>
      <p:sp>
        <p:nvSpPr>
          <p:cNvPr id="32" name="Rounded Rectangle 31"/>
          <p:cNvSpPr/>
          <p:nvPr/>
        </p:nvSpPr>
        <p:spPr>
          <a:xfrm>
            <a:off x="621792" y="5148072"/>
            <a:ext cx="3063240" cy="571500"/>
          </a:xfrm>
          <a:prstGeom prst="roundRect">
            <a:avLst>
              <a:gd name="adj" fmla="val 12000"/>
            </a:avLst>
          </a:prstGeom>
          <a:solidFill>
            <a:srgbClr val="14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3822191" y="5148072"/>
            <a:ext cx="7726679" cy="571500"/>
          </a:xfrm>
          <a:prstGeom prst="roundRect">
            <a:avLst>
              <a:gd name="adj" fmla="val 12000"/>
            </a:avLst>
          </a:prstGeom>
          <a:solidFill>
            <a:srgbClr val="14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21792" y="5148072"/>
            <a:ext cx="50292" cy="571500"/>
          </a:xfrm>
          <a:prstGeom prst="rect">
            <a:avLst/>
          </a:prstGeom>
          <a:solidFill>
            <a:srgbClr val="2ABE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5528" y="5221224"/>
            <a:ext cx="2697480" cy="461772"/>
          </a:xfrm>
          <a:prstGeom prst="rect">
            <a:avLst/>
          </a:prstGeom>
          <a:noFill/>
        </p:spPr>
        <p:txBody>
          <a:bodyPr wrap="square" lIns="36576" tIns="36576" rIns="36576" bIns="36576" anchor="ctr">
            <a:spAutoFit/>
          </a:bodyPr>
          <a:lstStyle/>
          <a:p>
            <a:pPr algn="l">
              <a:spcAft>
                <a:spcPts val="400"/>
              </a:spcAft>
            </a:pPr>
            <a:r>
              <a:rPr sz="1300" b="1" i="0">
                <a:solidFill>
                  <a:srgbClr val="F2F7FF"/>
                </a:solidFill>
                <a:latin typeface="Aptos"/>
              </a:rPr>
              <a:t>Stream filter, map &amp; collect</a:t>
            </a:r>
            <a:endParaRPr sz="1300" b="1" i="0">
              <a:solidFill>
                <a:srgbClr val="F2F7FF"/>
              </a:solidFill>
              <a:latin typeface="Aptos"/>
            </a:endParaRPr>
          </a:p>
        </p:txBody>
      </p:sp>
      <p:sp>
        <p:nvSpPr>
          <p:cNvPr id="36" name="TextBox 35"/>
          <p:cNvSpPr txBox="1"/>
          <p:nvPr/>
        </p:nvSpPr>
        <p:spPr>
          <a:xfrm>
            <a:off x="4041648" y="5202936"/>
            <a:ext cx="7269480" cy="480060"/>
          </a:xfrm>
          <a:prstGeom prst="rect">
            <a:avLst/>
          </a:prstGeom>
          <a:noFill/>
        </p:spPr>
        <p:txBody>
          <a:bodyPr wrap="square" lIns="36576" tIns="36576" rIns="36576" bIns="36576" anchor="ctr">
            <a:spAutoFit/>
          </a:bodyPr>
          <a:lstStyle/>
          <a:p>
            <a:pPr algn="l">
              <a:spcAft>
                <a:spcPts val="400"/>
              </a:spcAft>
            </a:pPr>
            <a:r>
              <a:rPr sz="1200" b="0" i="0">
                <a:solidFill>
                  <a:srgbClr val="F2F7FF"/>
                </a:solidFill>
                <a:latin typeface="Aptos"/>
              </a:rPr>
              <a:t>Filter expensive items and transform menu names into a collected list.</a:t>
            </a:r>
            <a:endParaRPr sz="1200" b="0" i="0">
              <a:solidFill>
                <a:srgbClr val="F2F7FF"/>
              </a:solidFill>
              <a:latin typeface="Aptos"/>
            </a:endParaRPr>
          </a:p>
        </p:txBody>
      </p:sp>
      <p:sp>
        <p:nvSpPr>
          <p:cNvPr id="37" name="Rounded Rectangle 36"/>
          <p:cNvSpPr/>
          <p:nvPr/>
        </p:nvSpPr>
        <p:spPr>
          <a:xfrm>
            <a:off x="621792" y="5811012"/>
            <a:ext cx="3063240" cy="571500"/>
          </a:xfrm>
          <a:prstGeom prst="roundRect">
            <a:avLst>
              <a:gd name="adj" fmla="val 12000"/>
            </a:avLst>
          </a:prstGeom>
          <a:solidFill>
            <a:srgbClr val="14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3822191" y="5811012"/>
            <a:ext cx="7726679" cy="571500"/>
          </a:xfrm>
          <a:prstGeom prst="roundRect">
            <a:avLst>
              <a:gd name="adj" fmla="val 12000"/>
            </a:avLst>
          </a:prstGeom>
          <a:solidFill>
            <a:srgbClr val="14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21792" y="5811012"/>
            <a:ext cx="50292" cy="571500"/>
          </a:xfrm>
          <a:prstGeom prst="rect">
            <a:avLst/>
          </a:prstGeom>
          <a:solidFill>
            <a:srgbClr val="42DA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95528" y="5884164"/>
            <a:ext cx="2697480" cy="461772"/>
          </a:xfrm>
          <a:prstGeom prst="rect">
            <a:avLst/>
          </a:prstGeom>
          <a:noFill/>
        </p:spPr>
        <p:txBody>
          <a:bodyPr wrap="square" lIns="36576" tIns="36576" rIns="36576" bIns="36576" anchor="ctr">
            <a:spAutoFit/>
          </a:bodyPr>
          <a:lstStyle/>
          <a:p>
            <a:pPr algn="l">
              <a:spcAft>
                <a:spcPts val="400"/>
              </a:spcAft>
            </a:pPr>
            <a:r>
              <a:rPr sz="1300" b="1" i="0">
                <a:solidFill>
                  <a:srgbClr val="F2F7FF"/>
                </a:solidFill>
                <a:latin typeface="Aptos"/>
              </a:rPr>
              <a:t>Collectors &amp; file streams</a:t>
            </a:r>
            <a:endParaRPr sz="1300" b="1" i="0">
              <a:solidFill>
                <a:srgbClr val="F2F7FF"/>
              </a:solidFill>
              <a:latin typeface="Aptos"/>
            </a:endParaRPr>
          </a:p>
        </p:txBody>
      </p:sp>
      <p:sp>
        <p:nvSpPr>
          <p:cNvPr id="41" name="TextBox 40"/>
          <p:cNvSpPr txBox="1"/>
          <p:nvPr/>
        </p:nvSpPr>
        <p:spPr>
          <a:xfrm>
            <a:off x="4041648" y="5865876"/>
            <a:ext cx="7269480" cy="480060"/>
          </a:xfrm>
          <a:prstGeom prst="rect">
            <a:avLst/>
          </a:prstGeom>
          <a:noFill/>
        </p:spPr>
        <p:txBody>
          <a:bodyPr wrap="square" lIns="36576" tIns="36576" rIns="36576" bIns="36576" anchor="ctr">
            <a:spAutoFit/>
          </a:bodyPr>
          <a:lstStyle/>
          <a:p>
            <a:pPr algn="l">
              <a:spcAft>
                <a:spcPts val="400"/>
              </a:spcAft>
            </a:pPr>
            <a:r>
              <a:rPr sz="1200" b="0" i="0">
                <a:solidFill>
                  <a:srgbClr val="F2F7FF"/>
                </a:solidFill>
                <a:latin typeface="Aptos"/>
              </a:rPr>
              <a:t>Group and count items by category, join names into one string, and read saved orders as a stream.</a:t>
            </a:r>
            <a:endParaRPr sz="1200" b="0" i="0">
              <a:solidFill>
                <a:srgbClr val="F2F7FF"/>
              </a:solidFill>
              <a:latin typeface="Aptos"/>
            </a:endParaRPr>
          </a:p>
        </p:txBody>
      </p:sp>
      <p:sp>
        <p:nvSpPr>
          <p:cNvPr id="43" name="Rectangle 42"/>
          <p:cNvSpPr/>
          <p:nvPr/>
        </p:nvSpPr>
        <p:spPr>
          <a:xfrm>
            <a:off x="164592" y="0"/>
            <a:ext cx="1234440" cy="365760"/>
          </a:xfrm>
          <a:prstGeom prst="rect">
            <a:avLst/>
          </a:prstGeom>
          <a:solidFill>
            <a:srgbClr val="081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8122B"/>
        </a:solidFill>
        <a:effectLst/>
      </p:bgPr>
    </p:bg>
    <p:spTree>
      <p:nvGrpSpPr>
        <p:cNvPr id="1" name=""/>
        <p:cNvGrpSpPr/>
        <p:nvPr/>
      </p:nvGrpSpPr>
      <p:grpSpPr>
        <a:xfrm>
          <a:off x="0" y="0"/>
          <a:ext cx="0" cy="0"/>
          <a:chOff x="0" y="0"/>
          <a:chExt cx="0" cy="0"/>
        </a:xfrm>
      </p:grpSpPr>
      <p:sp>
        <p:nvSpPr>
          <p:cNvPr id="2" name="Rectangle 1"/>
          <p:cNvSpPr/>
          <p:nvPr/>
        </p:nvSpPr>
        <p:spPr>
          <a:xfrm>
            <a:off x="594360" y="438912"/>
            <a:ext cx="91440" cy="384048"/>
          </a:xfrm>
          <a:prstGeom prst="rect">
            <a:avLst/>
          </a:prstGeom>
          <a:solidFill>
            <a:srgbClr val="42DA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04672" y="429768"/>
            <a:ext cx="2286000" cy="256032"/>
          </a:xfrm>
          <a:prstGeom prst="rect">
            <a:avLst/>
          </a:prstGeom>
          <a:noFill/>
        </p:spPr>
        <p:txBody>
          <a:bodyPr wrap="square" lIns="36576" tIns="36576" rIns="36576" bIns="36576" anchor="t">
            <a:spAutoFit/>
          </a:bodyPr>
          <a:lstStyle/>
          <a:p>
            <a:pPr algn="l">
              <a:spcAft>
                <a:spcPts val="400"/>
              </a:spcAft>
            </a:pPr>
            <a:r>
              <a:rPr sz="1000" b="1" i="0">
                <a:solidFill>
                  <a:srgbClr val="42DAE6"/>
                </a:solidFill>
                <a:latin typeface="Aptos"/>
              </a:rPr>
              <a:t>WRAP-UP</a:t>
            </a:r>
            <a:endParaRPr sz="1000" b="1" i="0">
              <a:solidFill>
                <a:srgbClr val="42DAE6"/>
              </a:solidFill>
              <a:latin typeface="Aptos"/>
            </a:endParaRPr>
          </a:p>
        </p:txBody>
      </p:sp>
      <p:sp>
        <p:nvSpPr>
          <p:cNvPr id="4" name="TextBox 3"/>
          <p:cNvSpPr txBox="1"/>
          <p:nvPr/>
        </p:nvSpPr>
        <p:spPr>
          <a:xfrm>
            <a:off x="594360" y="841248"/>
            <a:ext cx="10972800" cy="530352"/>
          </a:xfrm>
          <a:prstGeom prst="rect">
            <a:avLst/>
          </a:prstGeom>
          <a:noFill/>
        </p:spPr>
        <p:txBody>
          <a:bodyPr wrap="square" lIns="36576" tIns="36576" rIns="36576" bIns="36576" anchor="t">
            <a:spAutoFit/>
          </a:bodyPr>
          <a:lstStyle/>
          <a:p>
            <a:pPr algn="l">
              <a:spcAft>
                <a:spcPts val="400"/>
              </a:spcAft>
            </a:pPr>
            <a:r>
              <a:rPr sz="2900" b="1" i="0">
                <a:solidFill>
                  <a:srgbClr val="F2F7FF"/>
                </a:solidFill>
                <a:latin typeface="Aptos"/>
              </a:rPr>
              <a:t>Conclusion</a:t>
            </a:r>
            <a:endParaRPr sz="2900" b="1" i="0">
              <a:solidFill>
                <a:srgbClr val="F2F7FF"/>
              </a:solidFill>
              <a:latin typeface="Aptos"/>
            </a:endParaRPr>
          </a:p>
        </p:txBody>
      </p:sp>
      <p:sp>
        <p:nvSpPr>
          <p:cNvPr id="5" name="TextBox 4"/>
          <p:cNvSpPr txBox="1"/>
          <p:nvPr/>
        </p:nvSpPr>
        <p:spPr>
          <a:xfrm>
            <a:off x="621792" y="1399032"/>
            <a:ext cx="10881360" cy="384048"/>
          </a:xfrm>
          <a:prstGeom prst="rect">
            <a:avLst/>
          </a:prstGeom>
          <a:noFill/>
        </p:spPr>
        <p:txBody>
          <a:bodyPr wrap="square" lIns="36576" tIns="36576" rIns="36576" bIns="36576" anchor="t">
            <a:spAutoFit/>
          </a:bodyPr>
          <a:lstStyle/>
          <a:p>
            <a:pPr algn="l">
              <a:spcAft>
                <a:spcPts val="400"/>
              </a:spcAft>
            </a:pPr>
            <a:r>
              <a:rPr sz="1200" b="0" i="0">
                <a:solidFill>
                  <a:srgbClr val="B4C5DD"/>
                </a:solidFill>
                <a:latin typeface="Aptos"/>
              </a:rPr>
              <a:t>What the project demonstrates.</a:t>
            </a:r>
            <a:endParaRPr sz="1200" b="0" i="0">
              <a:solidFill>
                <a:srgbClr val="B4C5DD"/>
              </a:solidFill>
              <a:latin typeface="Aptos"/>
            </a:endParaRPr>
          </a:p>
        </p:txBody>
      </p:sp>
      <p:sp>
        <p:nvSpPr>
          <p:cNvPr id="6" name="Rectangle 5"/>
          <p:cNvSpPr/>
          <p:nvPr/>
        </p:nvSpPr>
        <p:spPr>
          <a:xfrm>
            <a:off x="594360" y="6455664"/>
            <a:ext cx="10972800" cy="10972"/>
          </a:xfrm>
          <a:prstGeom prst="rect">
            <a:avLst/>
          </a:prstGeom>
          <a:solidFill>
            <a:srgbClr val="1934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64240" y="6492240"/>
            <a:ext cx="457200" cy="182880"/>
          </a:xfrm>
          <a:prstGeom prst="rect">
            <a:avLst/>
          </a:prstGeom>
          <a:noFill/>
        </p:spPr>
        <p:txBody>
          <a:bodyPr wrap="square" lIns="36576" tIns="36576" rIns="36576" bIns="36576" anchor="t">
            <a:spAutoFit/>
          </a:bodyPr>
          <a:lstStyle/>
          <a:p>
            <a:pPr algn="r">
              <a:spcAft>
                <a:spcPts val="400"/>
              </a:spcAft>
            </a:pPr>
            <a:r>
              <a:rPr sz="900" b="1" i="0">
                <a:solidFill>
                  <a:srgbClr val="B4C5DD"/>
                </a:solidFill>
                <a:latin typeface="Aptos"/>
              </a:rPr>
              <a:t>10</a:t>
            </a:r>
            <a:endParaRPr sz="900" b="1" i="0">
              <a:solidFill>
                <a:srgbClr val="B4C5DD"/>
              </a:solidFill>
              <a:latin typeface="Aptos"/>
            </a:endParaRPr>
          </a:p>
        </p:txBody>
      </p:sp>
      <p:sp>
        <p:nvSpPr>
          <p:cNvPr id="8" name="Rounded Rectangle 7"/>
          <p:cNvSpPr/>
          <p:nvPr/>
        </p:nvSpPr>
        <p:spPr>
          <a:xfrm>
            <a:off x="658368" y="2057400"/>
            <a:ext cx="5303520" cy="2148840"/>
          </a:xfrm>
          <a:prstGeom prst="roundRect">
            <a:avLst>
              <a:gd name="adj" fmla="val 12000"/>
            </a:avLst>
          </a:prstGeom>
          <a:solidFill>
            <a:srgbClr val="14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59" y="2258568"/>
            <a:ext cx="54864" cy="1746504"/>
          </a:xfrm>
          <a:prstGeom prst="rect">
            <a:avLst/>
          </a:prstGeom>
          <a:solidFill>
            <a:srgbClr val="42DA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 y="2240280"/>
            <a:ext cx="4800600" cy="292608"/>
          </a:xfrm>
          <a:prstGeom prst="rect">
            <a:avLst/>
          </a:prstGeom>
          <a:noFill/>
        </p:spPr>
        <p:txBody>
          <a:bodyPr wrap="square" lIns="36576" tIns="36576" rIns="36576" bIns="36576" anchor="t">
            <a:spAutoFit/>
          </a:bodyPr>
          <a:lstStyle/>
          <a:p>
            <a:pPr algn="l">
              <a:spcAft>
                <a:spcPts val="400"/>
              </a:spcAft>
            </a:pPr>
            <a:r>
              <a:rPr sz="1500" b="1" i="0">
                <a:solidFill>
                  <a:srgbClr val="42DAE6"/>
                </a:solidFill>
                <a:latin typeface="Aptos"/>
              </a:rPr>
              <a:t>PROJECT OUTCOME</a:t>
            </a:r>
            <a:endParaRPr sz="1500" b="1" i="0">
              <a:solidFill>
                <a:srgbClr val="42DAE6"/>
              </a:solidFill>
              <a:latin typeface="Aptos"/>
            </a:endParaRPr>
          </a:p>
        </p:txBody>
      </p:sp>
      <p:sp>
        <p:nvSpPr>
          <p:cNvPr id="11" name="TextBox 10"/>
          <p:cNvSpPr txBox="1"/>
          <p:nvPr/>
        </p:nvSpPr>
        <p:spPr>
          <a:xfrm>
            <a:off x="987552" y="2615184"/>
            <a:ext cx="4800600" cy="1463040"/>
          </a:xfrm>
          <a:prstGeom prst="rect">
            <a:avLst/>
          </a:prstGeom>
          <a:noFill/>
        </p:spPr>
        <p:txBody>
          <a:bodyPr wrap="square" lIns="36576" tIns="36576" rIns="36576" bIns="36576" anchor="t">
            <a:spAutoFit/>
          </a:bodyPr>
          <a:lstStyle/>
          <a:p>
            <a:pPr algn="l">
              <a:spcAft>
                <a:spcPts val="400"/>
              </a:spcAft>
            </a:pPr>
            <a:r>
              <a:rPr sz="1200" b="0" i="0">
                <a:solidFill>
                  <a:srgbClr val="F2F7FF"/>
                </a:solidFill>
                <a:latin typeface="Aptos"/>
              </a:rPr>
              <a:t>The system combines menu display, order entry, bill calculation, searching, sorting, and order history in one Java application. It also demonstrates how the six modules connect to a practical programming task.</a:t>
            </a:r>
            <a:endParaRPr sz="1200" b="0" i="0">
              <a:solidFill>
                <a:srgbClr val="F2F7FF"/>
              </a:solidFill>
              <a:latin typeface="Aptos"/>
            </a:endParaRPr>
          </a:p>
        </p:txBody>
      </p:sp>
      <p:sp>
        <p:nvSpPr>
          <p:cNvPr id="12" name="Rounded Rectangle 11"/>
          <p:cNvSpPr/>
          <p:nvPr/>
        </p:nvSpPr>
        <p:spPr>
          <a:xfrm>
            <a:off x="6199632" y="2057400"/>
            <a:ext cx="5303520" cy="2148840"/>
          </a:xfrm>
          <a:prstGeom prst="roundRect">
            <a:avLst>
              <a:gd name="adj" fmla="val 12000"/>
            </a:avLst>
          </a:prstGeom>
          <a:solidFill>
            <a:srgbClr val="14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64224" y="2258568"/>
            <a:ext cx="54864" cy="1746504"/>
          </a:xfrm>
          <a:prstGeom prst="rect">
            <a:avLst/>
          </a:prstGeom>
          <a:solidFill>
            <a:srgbClr val="2ABE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28816" y="2240280"/>
            <a:ext cx="4800600" cy="292608"/>
          </a:xfrm>
          <a:prstGeom prst="rect">
            <a:avLst/>
          </a:prstGeom>
          <a:noFill/>
        </p:spPr>
        <p:txBody>
          <a:bodyPr wrap="square" lIns="36576" tIns="36576" rIns="36576" bIns="36576" anchor="t">
            <a:spAutoFit/>
          </a:bodyPr>
          <a:lstStyle/>
          <a:p>
            <a:pPr algn="l">
              <a:spcAft>
                <a:spcPts val="400"/>
              </a:spcAft>
            </a:pPr>
            <a:r>
              <a:rPr sz="1500" b="1" i="0">
                <a:solidFill>
                  <a:srgbClr val="2ABEB4"/>
                </a:solidFill>
                <a:latin typeface="Aptos"/>
              </a:rPr>
              <a:t>POSSIBLE FUTURE IMPROVEMENTS</a:t>
            </a:r>
            <a:endParaRPr sz="1500" b="1" i="0">
              <a:solidFill>
                <a:srgbClr val="2ABEB4"/>
              </a:solidFill>
              <a:latin typeface="Aptos"/>
            </a:endParaRPr>
          </a:p>
        </p:txBody>
      </p:sp>
      <p:sp>
        <p:nvSpPr>
          <p:cNvPr id="15" name="TextBox 14"/>
          <p:cNvSpPr txBox="1"/>
          <p:nvPr/>
        </p:nvSpPr>
        <p:spPr>
          <a:xfrm>
            <a:off x="6528816" y="2615184"/>
            <a:ext cx="4800600" cy="1463040"/>
          </a:xfrm>
          <a:prstGeom prst="rect">
            <a:avLst/>
          </a:prstGeom>
          <a:noFill/>
        </p:spPr>
        <p:txBody>
          <a:bodyPr wrap="square" lIns="36576" tIns="36576" rIns="36576" bIns="36576" anchor="t">
            <a:spAutoFit/>
          </a:bodyPr>
          <a:lstStyle/>
          <a:p>
            <a:pPr algn="l">
              <a:spcAft>
                <a:spcPts val="400"/>
              </a:spcAft>
            </a:pPr>
            <a:r>
              <a:rPr sz="1200" b="0" i="0">
                <a:solidFill>
                  <a:srgbClr val="F2F7FF"/>
                </a:solidFill>
                <a:latin typeface="Aptos"/>
              </a:rPr>
              <a:t>Add a graphical interface, editable menu and stock levels, stronger order-file formatting, and separate staff/customer access. A database could replace the text file as the system grows.</a:t>
            </a:r>
            <a:endParaRPr sz="1200" b="0" i="0">
              <a:solidFill>
                <a:srgbClr val="F2F7FF"/>
              </a:solidFill>
              <a:latin typeface="Aptos"/>
            </a:endParaRPr>
          </a:p>
        </p:txBody>
      </p:sp>
      <p:sp>
        <p:nvSpPr>
          <p:cNvPr id="16" name="Rounded Rectangle 15"/>
          <p:cNvSpPr/>
          <p:nvPr/>
        </p:nvSpPr>
        <p:spPr>
          <a:xfrm>
            <a:off x="658368" y="4645152"/>
            <a:ext cx="10863072" cy="868680"/>
          </a:xfrm>
          <a:prstGeom prst="roundRect">
            <a:avLst>
              <a:gd name="adj" fmla="val 12000"/>
            </a:avLst>
          </a:prstGeom>
          <a:solidFill>
            <a:srgbClr val="1934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846320"/>
            <a:ext cx="10332720" cy="411480"/>
          </a:xfrm>
          <a:prstGeom prst="rect">
            <a:avLst/>
          </a:prstGeom>
          <a:noFill/>
        </p:spPr>
        <p:txBody>
          <a:bodyPr wrap="square" lIns="36576" tIns="36576" rIns="36576" bIns="36576" anchor="t">
            <a:spAutoFit/>
          </a:bodyPr>
          <a:lstStyle/>
          <a:p>
            <a:pPr algn="ctr">
              <a:spcAft>
                <a:spcPts val="400"/>
              </a:spcAft>
            </a:pPr>
            <a:r>
              <a:rPr sz="1500" b="1" i="0">
                <a:solidFill>
                  <a:srgbClr val="F2F7FF"/>
                </a:solidFill>
                <a:latin typeface="Aptos"/>
              </a:rPr>
              <a:t>Overall, the project applies core Java concepts to make restaurant ordering and billing clearer and more organized.</a:t>
            </a:r>
            <a:endParaRPr sz="1500" b="1" i="0">
              <a:solidFill>
                <a:srgbClr val="F2F7FF"/>
              </a:solidFill>
              <a:latin typeface="Aptos"/>
            </a:endParaRPr>
          </a:p>
        </p:txBody>
      </p:sp>
      <p:sp>
        <p:nvSpPr>
          <p:cNvPr id="18" name="Rectangle 17"/>
          <p:cNvSpPr/>
          <p:nvPr/>
        </p:nvSpPr>
        <p:spPr>
          <a:xfrm>
            <a:off x="164592" y="0"/>
            <a:ext cx="1234440" cy="365760"/>
          </a:xfrm>
          <a:prstGeom prst="rect">
            <a:avLst/>
          </a:prstGeom>
          <a:solidFill>
            <a:srgbClr val="081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8122B"/>
        </a:solidFill>
        <a:effectLst/>
      </p:bgPr>
    </p:bg>
    <p:spTree>
      <p:nvGrpSpPr>
        <p:cNvPr id="1" name=""/>
        <p:cNvGrpSpPr/>
        <p:nvPr/>
      </p:nvGrpSpPr>
      <p:grpSpPr>
        <a:xfrm>
          <a:off x="0" y="0"/>
          <a:ext cx="0" cy="0"/>
          <a:chOff x="0" y="0"/>
          <a:chExt cx="0" cy="0"/>
        </a:xfrm>
      </p:grpSpPr>
      <p:sp>
        <p:nvSpPr>
          <p:cNvPr id="2" name="Rectangle 1"/>
          <p:cNvSpPr/>
          <p:nvPr/>
        </p:nvSpPr>
        <p:spPr>
          <a:xfrm>
            <a:off x="594360" y="438912"/>
            <a:ext cx="91440" cy="384048"/>
          </a:xfrm>
          <a:prstGeom prst="rect">
            <a:avLst/>
          </a:prstGeom>
          <a:solidFill>
            <a:srgbClr val="42DA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04672" y="429768"/>
            <a:ext cx="2286000" cy="256032"/>
          </a:xfrm>
          <a:prstGeom prst="rect">
            <a:avLst/>
          </a:prstGeom>
          <a:noFill/>
        </p:spPr>
        <p:txBody>
          <a:bodyPr wrap="square" lIns="36576" tIns="36576" rIns="36576" bIns="36576" anchor="t">
            <a:spAutoFit/>
          </a:bodyPr>
          <a:lstStyle/>
          <a:p>
            <a:pPr algn="l">
              <a:spcAft>
                <a:spcPts val="400"/>
              </a:spcAft>
            </a:pPr>
            <a:r>
              <a:rPr sz="1000" b="1" i="0">
                <a:solidFill>
                  <a:srgbClr val="42DAE6"/>
                </a:solidFill>
                <a:latin typeface="Aptos"/>
              </a:rPr>
              <a:t>PROJECT EVIDENCE</a:t>
            </a:r>
            <a:endParaRPr sz="1000" b="1" i="0">
              <a:solidFill>
                <a:srgbClr val="42DAE6"/>
              </a:solidFill>
              <a:latin typeface="Aptos"/>
            </a:endParaRPr>
          </a:p>
        </p:txBody>
      </p:sp>
      <p:sp>
        <p:nvSpPr>
          <p:cNvPr id="4" name="TextBox 3"/>
          <p:cNvSpPr txBox="1"/>
          <p:nvPr/>
        </p:nvSpPr>
        <p:spPr>
          <a:xfrm>
            <a:off x="594360" y="841248"/>
            <a:ext cx="10972800" cy="530352"/>
          </a:xfrm>
          <a:prstGeom prst="rect">
            <a:avLst/>
          </a:prstGeom>
          <a:noFill/>
        </p:spPr>
        <p:txBody>
          <a:bodyPr wrap="square" lIns="36576" tIns="36576" rIns="36576" bIns="36576" anchor="t">
            <a:spAutoFit/>
          </a:bodyPr>
          <a:lstStyle/>
          <a:p>
            <a:pPr algn="l">
              <a:spcAft>
                <a:spcPts val="400"/>
              </a:spcAft>
            </a:pPr>
            <a:r>
              <a:rPr sz="2900" b="1" i="0">
                <a:solidFill>
                  <a:srgbClr val="F2F7FF"/>
                </a:solidFill>
                <a:latin typeface="Aptos"/>
              </a:rPr>
              <a:t>Output Screenshots</a:t>
            </a:r>
            <a:endParaRPr sz="2900" b="1" i="0">
              <a:solidFill>
                <a:srgbClr val="F2F7FF"/>
              </a:solidFill>
              <a:latin typeface="Aptos"/>
            </a:endParaRPr>
          </a:p>
        </p:txBody>
      </p:sp>
      <p:sp>
        <p:nvSpPr>
          <p:cNvPr id="6" name="Rectangle 5"/>
          <p:cNvSpPr/>
          <p:nvPr/>
        </p:nvSpPr>
        <p:spPr>
          <a:xfrm>
            <a:off x="594360" y="6455664"/>
            <a:ext cx="10972800" cy="10972"/>
          </a:xfrm>
          <a:prstGeom prst="rect">
            <a:avLst/>
          </a:prstGeom>
          <a:solidFill>
            <a:srgbClr val="1934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64240" y="6492240"/>
            <a:ext cx="457200" cy="182880"/>
          </a:xfrm>
          <a:prstGeom prst="rect">
            <a:avLst/>
          </a:prstGeom>
          <a:noFill/>
        </p:spPr>
        <p:txBody>
          <a:bodyPr wrap="square" lIns="36576" tIns="36576" rIns="36576" bIns="36576" anchor="t">
            <a:spAutoFit/>
          </a:bodyPr>
          <a:lstStyle/>
          <a:p>
            <a:pPr algn="r">
              <a:spcAft>
                <a:spcPts val="400"/>
              </a:spcAft>
            </a:pPr>
            <a:r>
              <a:rPr sz="900" b="1" i="0">
                <a:solidFill>
                  <a:srgbClr val="B4C5DD"/>
                </a:solidFill>
                <a:latin typeface="Aptos"/>
              </a:rPr>
              <a:t>11</a:t>
            </a:r>
            <a:endParaRPr sz="900" b="1" i="0">
              <a:solidFill>
                <a:srgbClr val="B4C5DD"/>
              </a:solidFill>
              <a:latin typeface="Aptos"/>
            </a:endParaRPr>
          </a:p>
        </p:txBody>
      </p:sp>
      <p:sp>
        <p:nvSpPr>
          <p:cNvPr id="16" name="TextBox 15"/>
          <p:cNvSpPr txBox="1"/>
          <p:nvPr/>
        </p:nvSpPr>
        <p:spPr>
          <a:xfrm>
            <a:off x="749808" y="5687568"/>
            <a:ext cx="10698480" cy="243143"/>
          </a:xfrm>
          <a:prstGeom prst="rect">
            <a:avLst/>
          </a:prstGeom>
          <a:noFill/>
        </p:spPr>
        <p:txBody>
          <a:bodyPr wrap="square" lIns="36576" tIns="36576" rIns="36576" bIns="36576" anchor="t">
            <a:spAutoFit/>
          </a:bodyPr>
          <a:lstStyle/>
          <a:p>
            <a:pPr algn="l">
              <a:spcAft>
                <a:spcPts val="400"/>
              </a:spcAft>
            </a:pPr>
            <a:r>
              <a:rPr sz="1100" b="0" i="1" dirty="0">
                <a:solidFill>
                  <a:srgbClr val="B4C5DD"/>
                </a:solidFill>
                <a:latin typeface="Aptos"/>
              </a:rPr>
              <a:t>.</a:t>
            </a:r>
            <a:endParaRPr sz="1100" b="0" i="1" dirty="0">
              <a:solidFill>
                <a:srgbClr val="B4C5DD"/>
              </a:solidFill>
              <a:latin typeface="Aptos"/>
            </a:endParaRPr>
          </a:p>
        </p:txBody>
      </p:sp>
      <p:sp>
        <p:nvSpPr>
          <p:cNvPr id="17" name="Rectangle 16"/>
          <p:cNvSpPr/>
          <p:nvPr/>
        </p:nvSpPr>
        <p:spPr>
          <a:xfrm>
            <a:off x="164592" y="0"/>
            <a:ext cx="1234440" cy="365760"/>
          </a:xfrm>
          <a:prstGeom prst="rect">
            <a:avLst/>
          </a:prstGeom>
          <a:solidFill>
            <a:srgbClr val="081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43712" y="1417845"/>
            <a:ext cx="3397425" cy="5074395"/>
          </a:xfrm>
          <a:prstGeom prst="rect">
            <a:avLst/>
          </a:prstGeom>
        </p:spPr>
      </p:pic>
      <p:pic>
        <p:nvPicPr>
          <p:cNvPr id="21" name="Picture 2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18579" y="1399076"/>
            <a:ext cx="3124361" cy="5067560"/>
          </a:xfrm>
          <a:prstGeom prst="rect">
            <a:avLst/>
          </a:prstGeom>
        </p:spPr>
      </p:pic>
      <p:pic>
        <p:nvPicPr>
          <p:cNvPr id="23" name="Picture 2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20382" y="2567454"/>
            <a:ext cx="3795136" cy="288054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8122B"/>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42DA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64592" y="0"/>
            <a:ext cx="1234440" cy="365760"/>
          </a:xfrm>
          <a:prstGeom prst="rect">
            <a:avLst/>
          </a:prstGeom>
          <a:solidFill>
            <a:srgbClr val="081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37145" y="870347"/>
            <a:ext cx="4032242" cy="2621458"/>
          </a:xfrm>
          <a:prstGeom prst="rect">
            <a:avLst/>
          </a:prstGeom>
        </p:spPr>
      </p:pic>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7145" y="3653738"/>
            <a:ext cx="6388773" cy="262145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8122B"/>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42DA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64592" y="0"/>
            <a:ext cx="1234440" cy="365760"/>
          </a:xfrm>
          <a:prstGeom prst="rect">
            <a:avLst/>
          </a:prstGeom>
          <a:solidFill>
            <a:srgbClr val="081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81812" y="316426"/>
            <a:ext cx="4343893" cy="2164217"/>
          </a:xfrm>
          <a:prstGeom prst="rect">
            <a:avLst/>
          </a:prstGeom>
        </p:spPr>
      </p:pic>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0511" y="2682102"/>
            <a:ext cx="2939912" cy="3135339"/>
          </a:xfrm>
          <a:prstGeom prst="rect">
            <a:avLst/>
          </a:prstGeom>
        </p:spPr>
      </p:pic>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0511" y="6018900"/>
            <a:ext cx="2660247" cy="58306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8122B"/>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42DA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658368"/>
            <a:ext cx="91440" cy="457200"/>
          </a:xfrm>
          <a:prstGeom prst="rect">
            <a:avLst/>
          </a:prstGeom>
          <a:solidFill>
            <a:srgbClr val="2ABE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96112" y="676656"/>
            <a:ext cx="4572000" cy="411480"/>
          </a:xfrm>
          <a:prstGeom prst="rect">
            <a:avLst/>
          </a:prstGeom>
          <a:noFill/>
        </p:spPr>
        <p:txBody>
          <a:bodyPr wrap="square" lIns="36576" tIns="36576" rIns="36576" bIns="36576" anchor="t">
            <a:spAutoFit/>
          </a:bodyPr>
          <a:lstStyle/>
          <a:p>
            <a:pPr algn="l">
              <a:spcAft>
                <a:spcPts val="400"/>
              </a:spcAft>
            </a:pPr>
            <a:r>
              <a:rPr sz="2400" b="1" i="0">
                <a:solidFill>
                  <a:srgbClr val="F2F7FF"/>
                </a:solidFill>
                <a:latin typeface="Aptos"/>
              </a:rPr>
              <a:t>GITHUB LINK</a:t>
            </a:r>
            <a:endParaRPr sz="2400" b="1" i="0">
              <a:solidFill>
                <a:srgbClr val="F2F7FF"/>
              </a:solidFill>
              <a:latin typeface="Aptos"/>
            </a:endParaRPr>
          </a:p>
        </p:txBody>
      </p:sp>
      <p:sp>
        <p:nvSpPr>
          <p:cNvPr id="5" name="Rectangle 4"/>
          <p:cNvSpPr/>
          <p:nvPr/>
        </p:nvSpPr>
        <p:spPr>
          <a:xfrm>
            <a:off x="164592" y="0"/>
            <a:ext cx="1234440" cy="365760"/>
          </a:xfrm>
          <a:prstGeom prst="rect">
            <a:avLst/>
          </a:prstGeom>
          <a:solidFill>
            <a:srgbClr val="081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6575</Words>
  <Application>WPS Presentation</Application>
  <PresentationFormat>Widescreen</PresentationFormat>
  <Paragraphs>297</Paragraphs>
  <Slides>14</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14</vt:i4>
      </vt:variant>
    </vt:vector>
  </HeadingPairs>
  <TitlesOfParts>
    <vt:vector size="24" baseType="lpstr">
      <vt:lpstr>Arial</vt:lpstr>
      <vt:lpstr>SimSun</vt:lpstr>
      <vt:lpstr>Wingdings</vt:lpstr>
      <vt:lpstr>Aptos</vt:lpstr>
      <vt:lpstr>Segoe UI</vt:lpstr>
      <vt:lpstr>Microsoft YaHei</vt:lpstr>
      <vt:lpstr>Arial Unicode MS</vt:lpstr>
      <vt:lpstr>Aptos Display</vt:lpstr>
      <vt:lpstr>Segoe UI Variable Display</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TSP MADHURI</dc:creator>
  <cp:lastModifiedBy>WPS_1788613871</cp:lastModifiedBy>
  <cp:revision>5</cp:revision>
  <dcterms:created xsi:type="dcterms:W3CDTF">2026-09-15T09:57:00Z</dcterms:created>
  <dcterms:modified xsi:type="dcterms:W3CDTF">2026-10-16T08:28:13Z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1033-12.1.0.29162</vt:lpwstr>
  </property>
  <property fmtid="{D5CDD505-2E9C-101B-9397-08002B2CF9AE}" pid="3" name="ICV">
    <vt:lpwstr>B801BF7F3CDE4190AF26A0CB3542D1E5_13</vt:lpwstr>
  </property>
</Properties>
</file>